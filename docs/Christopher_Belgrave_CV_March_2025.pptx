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7" Type="http://schemas.openxmlformats.org/officeDocument/2006/relationships/viewProps" Target="viewProps.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mailto:chrisbelgrave@gmail.com" TargetMode="External" /><Relationship Id="rId3" Type="http://schemas.openxmlformats.org/officeDocument/2006/relationships/hyperlink" Target="https://www.craftww.com/" TargetMode="External" /><Relationship Id="rId4" Type="http://schemas.openxmlformats.org/officeDocument/2006/relationships/hyperlink" Target="https://threedium.io/" TargetMode="External" /><Relationship Id="rId5" Type="http://schemas.openxmlformats.org/officeDocument/2006/relationships/hyperlink" Target="https://maybellinechromaverse.com/" TargetMode="External" /><Relationship Id="rId6" Type="http://schemas.openxmlformats.org/officeDocument/2006/relationships/hyperlink" Target="https://www.wpp.com/" TargetMode="External" /><Relationship Id="rId7" Type="http://schemas.openxmlformats.org/officeDocument/2006/relationships/hyperlink" Target="https://us.coca-cola.com/plusone" TargetMode="External" /><Relationship Id="rId8" Type="http://schemas.openxmlformats.org/officeDocument/2006/relationships/hyperlink" Target="https://www.fanta.com/" TargetMode="External" /><Relationship Id="rId9" Type="http://schemas.openxmlformats.org/officeDocument/2006/relationships/hyperlink" Target="https://www.coca-colacompany.com/news/deeper-look-at-coca-colas-emerging-business-in-alcohol" TargetMode="External" /><Relationship Id="rId10" Type="http://schemas.openxmlformats.org/officeDocument/2006/relationships/hyperlink" Target="https://en.ccbji.co.jp/event/information011/" TargetMode="External" /><Relationship Id="rId11" Type="http://schemas.openxmlformats.org/officeDocument/2006/relationships/hyperlink" Target="https://www.topochicohardseltzerusa.com/av?url=https://www.topochicohardseltzerusa.com/" TargetMode="External" /><Relationship Id="rId12" Type="http://schemas.openxmlformats.org/officeDocument/2006/relationships/hyperlink" Target="https://thetrailerfarm.com/" TargetMode="External" /><Relationship Id="rId13" Type="http://schemas.openxmlformats.org/officeDocument/2006/relationships/hyperlink" Target="https://thetrailerfarm.com/" TargetMode="External" /><Relationship Id="rId14" Type="http://schemas.openxmlformats.org/officeDocument/2006/relationships/hyperlink" Target="https://thetrailerfarm.com/" TargetMode="External" /><Relationship Id="rId15" Type="http://schemas.openxmlformats.org/officeDocument/2006/relationships/hyperlink" Target="https://clickup.com/" TargetMode="External" /><Relationship Id="rId16" Type="http://schemas.openxmlformats.org/officeDocument/2006/relationships/hyperlink" Target="https://aquietplace.game/" TargetMode="External" /><Relationship Id="rId17" Type="http://schemas.openxmlformats.org/officeDocument/2006/relationships/hyperlink" Target="https://marvelousgames.com/" TargetMode="External" /><Relationship Id="rId18" Type="http://schemas.openxmlformats.org/officeDocument/2006/relationships/hyperlink" Target="https://youtu.be/zNJg3-lil5s" TargetMode="External" /><Relationship Id="rId19" Type="http://schemas.openxmlformats.org/officeDocument/2006/relationships/hyperlink" Target="https://www.rga.com/" TargetMode="External" /><Relationship Id="rId20" Type="http://schemas.openxmlformats.org/officeDocument/2006/relationships/hyperlink" Target="https://www.allianz.com/en.html" TargetMode="External" /><Relationship Id="rId21" Type="http://schemas.openxmlformats.org/officeDocument/2006/relationships/hyperlink" Target="https://www.sullivanstanley.com/" TargetMode="External" /><Relationship Id="rId22" Type="http://schemas.openxmlformats.org/officeDocument/2006/relationships/hyperlink" Target="https://www.sullivanstanley.com/" TargetMode="External" /><Relationship Id="rId23" Type="http://schemas.openxmlformats.org/officeDocument/2006/relationships/hyperlink" Target="https://www.sullivanstanley.com/" TargetMode="External" /><Relationship Id="rId24" Type="http://schemas.openxmlformats.org/officeDocument/2006/relationships/hyperlink" Target="https://www.sullivanstanley.com/" TargetMode="External" /><Relationship Id="rId25" Type="http://schemas.openxmlformats.org/officeDocument/2006/relationships/hyperlink" Target="https://www.sullivanstanley.com/" TargetMode="External" /><Relationship Id="rId26" Type="http://schemas.openxmlformats.org/officeDocument/2006/relationships/hyperlink" Target="https://www.criticalmass.com/" TargetMode="External" /><Relationship Id="rId27" Type="http://schemas.openxmlformats.org/officeDocument/2006/relationships/hyperlink" Target="https://www.criticalmass.com/" TargetMode="External" /><Relationship Id="rId28" Type="http://schemas.openxmlformats.org/officeDocument/2006/relationships/hyperlink" Target="https://www.criticalmass.com/" TargetMode="External" /><Relationship Id="rId29" Type="http://schemas.openxmlformats.org/officeDocument/2006/relationships/hyperlink" Target="https://www.mitsubishicars.com/" TargetMode="External" /><Relationship Id="rId30" Type="http://schemas.openxmlformats.org/officeDocument/2006/relationships/hyperlink" Target="https://www.sennep.com/" TargetMode="External" /><Relationship Id="rId31" Type="http://schemas.openxmlformats.org/officeDocument/2006/relationships/hyperlink" Target="https://roli.com/" TargetMode="External" /><Relationship Id="rId32" Type="http://schemas.openxmlformats.org/officeDocument/2006/relationships/hyperlink" Target="https://playlumi.com" TargetMode="External" /><Relationship Id="rId33" Type="http://schemas.openxmlformats.org/officeDocument/2006/relationships/hyperlink" Target="https://www.gildan.com/state/landing" TargetMode="External" /><Relationship Id="rId34" Type="http://schemas.openxmlformats.org/officeDocument/2006/relationships/hyperlink" Target="https://www.americanapparel.com/us/en/" TargetMode="External" /><Relationship Id="rId35" Type="http://schemas.openxmlformats.org/officeDocument/2006/relationships/hyperlink" Target="http://letsbossa.com/" TargetMode="External" /><Relationship Id="rId36" Type="http://schemas.openxmlformats.org/officeDocument/2006/relationships/hyperlink" Target="http://www.amvbbdo.com/" TargetMode="External" /><Relationship Id="rId37" Type="http://schemas.openxmlformats.org/officeDocument/2006/relationships/hyperlink" Target="https://www.hogarthww.com/" TargetMode="External" /><Relationship Id="rId38" Type="http://schemas.openxmlformats.org/officeDocument/2006/relationships/hyperlink" Target="https://www.bartleboglehegarty.com/" TargetMode="External" /><Relationship Id="rId39" Type="http://schemas.openxmlformats.org/officeDocument/2006/relationships/hyperlink" Target="https://www.digitas.com/" TargetMode="External" /><Relationship Id="rId40" Type="http://schemas.openxmlformats.org/officeDocument/2006/relationships/hyperlink" Target="https://www.wlt.com/" TargetMode="External" /><Relationship Id="rId41" Type="http://schemas.openxmlformats.org/officeDocument/2006/relationships/hyperlink" Target="https://www.thecornerlondon.com/" TargetMode="External" /><Relationship Id="rId42" Type="http://schemas.openxmlformats.org/officeDocument/2006/relationships/hyperlink" Target="https://fundamentalgroup.com/" TargetMode="External" /><Relationship Id="rId43" Type="http://schemas.openxmlformats.org/officeDocument/2006/relationships/hyperlink" Target="https://www.wunderman.co.uk/" TargetMode="External" /><Relationship Id="rId44" Type="http://schemas.openxmlformats.org/officeDocument/2006/relationships/hyperlink" Target="https://www.wundermanthompson.com/united-kingdom" TargetMode="External" /><Relationship Id="rId45" Type="http://schemas.openxmlformats.org/officeDocument/2006/relationships/hyperlink" Target="http://gacaribbean.com/" TargetMode="External" /><Relationship Id="rId46" Type="http://schemas.openxmlformats.org/officeDocument/2006/relationships/hyperlink" Target="https://uk.mixa.com/" TargetMode="External" /><Relationship Id="rId47" Type="http://schemas.openxmlformats.org/officeDocument/2006/relationships/hyperlink" Target="https://www.loreal.com/" TargetMode="External" /><Relationship Id="rId48" Type="http://schemas.openxmlformats.org/officeDocument/2006/relationships/hyperlink" Target="http://merimedia.com/" TargetMode="External" /><Relationship Id="rId49" Type="http://schemas.openxmlformats.org/officeDocument/2006/relationships/hyperlink" Target="http://merimedia.com/" TargetMode="External" /><Relationship Id="rId50" Type="http://schemas.openxmlformats.org/officeDocument/2006/relationships/hyperlink" Target="http://merimedia.com/" TargetMode="External" /><Relationship Id="rId51" Type="http://schemas.openxmlformats.org/officeDocument/2006/relationships/hyperlink" Target="https://uk.diesel.com/en/dcode-program/" TargetMode="External" /><Relationship Id="rId52" Type="http://schemas.openxmlformats.org/officeDocument/2006/relationships/hyperlink" Target="https://www.redbeemedia.com/" TargetMode="External" /><Relationship Id="rId53" Type="http://schemas.openxmlformats.org/officeDocument/2006/relationships/hyperlink" Target="https://www.redbeemedia.com/" TargetMode="External" /><Relationship Id="rId54" Type="http://schemas.openxmlformats.org/officeDocument/2006/relationships/hyperlink" Target="https://www.redbeemedia.com/" TargetMode="External" /><Relationship Id="rId55" Type="http://schemas.openxmlformats.org/officeDocument/2006/relationships/hyperlink" Target="https://www.redbeemedia.com/" TargetMode="External" /><Relationship Id="rId56" Type="http://schemas.openxmlformats.org/officeDocument/2006/relationships/hyperlink" Target="https://www.redbeemedia.com/" TargetMode="External" /><Relationship Id="rId57" Type="http://schemas.openxmlformats.org/officeDocument/2006/relationships/hyperlink" Target="https://www.redbeecreative.com/work/bbc-one-doctor-who-the-new-doctor-lands" TargetMode="External" /><Relationship Id="rId58" Type="http://schemas.openxmlformats.org/officeDocument/2006/relationships/hyperlink" Target="https://www.leagasdelaney.co.uk/" TargetMode="External" /><Relationship Id="rId59" Type="http://schemas.openxmlformats.org/officeDocument/2006/relationships/hyperlink" Target="https://www.leagasdelaney.co.uk/" TargetMode="External" /><Relationship Id="rId60" Type="http://schemas.openxmlformats.org/officeDocument/2006/relationships/hyperlink" Target="https://www.leagasdelaney.co.uk/" TargetMode="External" /><Relationship Id="rId61" Type="http://schemas.openxmlformats.org/officeDocument/2006/relationships/hyperlink" Target="https://www.patek.com/en/home" TargetMode="External" /><Relationship Id="rId62" Type="http://schemas.openxmlformats.org/officeDocument/2006/relationships/hyperlink" Target="http://www.mediamind.me/" TargetMode="External" /><Relationship Id="rId63" Type="http://schemas.openxmlformats.org/officeDocument/2006/relationships/hyperlink" Target="https://fitdigital.co.uk/portfolio_page/feel-unique-facebook-t-shirt-app/" TargetMode="External" /><Relationship Id="rId64" Type="http://schemas.openxmlformats.org/officeDocument/2006/relationships/hyperlink" Target="https://www.group.pictet/" TargetMode="External" /><Relationship Id="rId65" Type="http://schemas.openxmlformats.org/officeDocument/2006/relationships/hyperlink" Target="https://www.skype.com/en/" TargetMode="External" /><Relationship Id="rId66" Type="http://schemas.openxmlformats.org/officeDocument/2006/relationships/hyperlink" Target="https://about.ads.microsoft.com/en-us" TargetMode="External" /><Relationship Id="rId67" Type="http://schemas.openxmlformats.org/officeDocument/2006/relationships/hyperlink" Target="https://about.ads.microsoft.com/en-us" TargetMode="External" /><Relationship Id="rId68" Type="http://schemas.openxmlformats.org/officeDocument/2006/relationships/hyperlink" Target="https://about.ads.microsoft.com/en-us" TargetMode="External" /><Relationship Id="rId69" Type="http://schemas.openxmlformats.org/officeDocument/2006/relationships/hyperlink" Target="https://about.ads.microsoft.com/en-us" TargetMode="External" /><Relationship Id="rId70" Type="http://schemas.openxmlformats.org/officeDocument/2006/relationships/hyperlink" Target="http://www.Itube.com/watch?v=l934XTKC46Q&amp;" TargetMode="External" /><Relationship Id="rId71" Type="http://schemas.openxmlformats.org/officeDocument/2006/relationships/hyperlink" Target="https://www.ti-media.com/brands/trusted-reviews/" TargetMode="External" /><Relationship Id="rId72" Type="http://schemas.openxmlformats.org/officeDocument/2006/relationships/hyperlink" Target="https://www.ti-media.com/brands/trusted-reviews/" TargetMode="External" /><Relationship Id="rId73" Type="http://schemas.openxmlformats.org/officeDocument/2006/relationships/hyperlink" Target="https://www.ti-media.com/brands/trusted-reviews/" TargetMode="External" /><Relationship Id="rId74" Type="http://schemas.openxmlformats.org/officeDocument/2006/relationships/hyperlink" Target="https://www.ti-media.com/brands/trusted-reviews/" TargetMode="External" /><Relationship Id="rId75" Type="http://schemas.openxmlformats.org/officeDocument/2006/relationships/hyperlink" Target="https://www.ti-media.com/brands/trusted-reviews/" TargetMode="External" /><Relationship Id="rId76" Type="http://schemas.openxmlformats.org/officeDocument/2006/relationships/hyperlink" Target="https://www.ti-media.com/brands/trusted-reviews/" TargetMode="External" /><Relationship Id="rId77" Type="http://schemas.openxmlformats.org/officeDocument/2006/relationships/hyperlink" Target="https://www.ti-media.com/brands/trusted-reviews/" TargetMode="External" /><Relationship Id="rId78" Type="http://schemas.openxmlformats.org/officeDocument/2006/relationships/hyperlink" Target="https://www.ti-media.com/brands/trusted-reviews/" TargetMode="External" /><Relationship Id="rId79" Type="http://schemas.openxmlformats.org/officeDocument/2006/relationships/hyperlink" Target="https://www.ti-media.com/brands/trusted-reviews/" TargetMode="External" /><Relationship Id="rId80" Type="http://schemas.openxmlformats.org/officeDocument/2006/relationships/hyperlink" Target="https://www.trustedreviews.com/" TargetMode="External" /><Relationship Id="rId81" Type="http://schemas.openxmlformats.org/officeDocument/2006/relationships/hyperlink" Target="https://www.springstudios.com/" TargetMode="External" /><Relationship Id="rId82" Type="http://schemas.openxmlformats.org/officeDocument/2006/relationships/hyperlink" Target="https://www.springstudios.com/" TargetMode="External" /><Relationship Id="rId83" Type="http://schemas.openxmlformats.org/officeDocument/2006/relationships/hyperlink" Target="https://www.springstudios.com/" TargetMode="External" /><Relationship Id="rId84" Type="http://schemas.openxmlformats.org/officeDocument/2006/relationships/hyperlink" Target="http://www.adamandeveddb.com/" TargetMode="External" /><Relationship Id="rId85" Type="http://schemas.openxmlformats.org/officeDocument/2006/relationships/hyperlink" Target="http://www.adamandeveddb.com/" TargetMode="External" /><Relationship Id="rId86" Type="http://schemas.openxmlformats.org/officeDocument/2006/relationships/hyperlink" Target="http://www.adamandeveddb.com/" TargetMode="External" /><Relationship Id="rId87" Type="http://schemas.openxmlformats.org/officeDocument/2006/relationships/hyperlink" Target="https://www.hearst.com/" TargetMode="External" /><Relationship Id="rId88" Type="http://schemas.openxmlformats.org/officeDocument/2006/relationships/hyperlink" Target="https://www.jimmychoo.com/" TargetMode="External" /><Relationship Id="rId89" Type="http://schemas.openxmlformats.org/officeDocument/2006/relationships/hyperlink" Target="https://www.jimmychoo.com/" TargetMode="External" /><Relationship Id="rId90" Type="http://schemas.openxmlformats.org/officeDocument/2006/relationships/hyperlink" Target="https://www.jimmychoo.com/" TargetMode="External" /><Relationship Id="rId91" Type="http://schemas.openxmlformats.org/officeDocument/2006/relationships/hyperlink" Target="https://www.burberry.com/" TargetMode="External" /><Relationship Id="rId92" Type="http://schemas.openxmlformats.org/officeDocument/2006/relationships/hyperlink" Target="https://www.capgemini.com/" TargetMode="External" /><Relationship Id="rId93" Type="http://schemas.openxmlformats.org/officeDocument/2006/relationships/hyperlink" Target="https://www.ogilvy.com/" TargetMode="External" /><Relationship Id="rId94" Type="http://schemas.openxmlformats.org/officeDocument/2006/relationships/hyperlink" Target="https://www.ogilvy.com/" TargetMode="External" /><Relationship Id="rId95" Type="http://schemas.openxmlformats.org/officeDocument/2006/relationships/hyperlink" Target="https://www.ogilvy.com/" TargetMode="External" /><Relationship Id="rId96" Type="http://schemas.openxmlformats.org/officeDocument/2006/relationships/hyperlink" Target="http://www.ddb.com/offices/europe/uk/" TargetMode="External" /><Relationship Id="rId97" Type="http://schemas.openxmlformats.org/officeDocument/2006/relationships/hyperlink" Target="http://www.ddb.com/offices/europe/uk/" TargetMode="External" /><Relationship Id="rId98" Type="http://schemas.openxmlformats.org/officeDocument/2006/relationships/hyperlink" Target="http://www.ddb.com/offices/europe/uk/" TargetMode="External" /><Relationship Id="rId99" Type="http://schemas.openxmlformats.org/officeDocument/2006/relationships/hyperlink" Target="https://www.campaignlive.co.uk/article/havas-ties-work-club-founders-30m-deal/1295310" TargetMode="External" /><Relationship Id="rId100" Type="http://schemas.openxmlformats.org/officeDocument/2006/relationships/hyperlink" Target="https://www.theguardian.com/media/gallery/2008/apr/25/channel4.television" TargetMode="External" /><Relationship Id="rId101" Type="http://schemas.openxmlformats.org/officeDocument/2006/relationships/hyperlink" Target="https://www.rehabagency.ai/" TargetMode="External" /><Relationship Id="rId102" Type="http://schemas.openxmlformats.org/officeDocument/2006/relationships/hyperlink" Target="https://www.rehabagency.ai/" TargetMode="External" /><Relationship Id="rId103" Type="http://schemas.openxmlformats.org/officeDocument/2006/relationships/hyperlink" Target="https://www.rehabagency.ai/" TargetMode="External" /><Relationship Id="rId104" Type="http://schemas.openxmlformats.org/officeDocument/2006/relationships/hyperlink" Target="https://www.fcb.com/location/london" TargetMode="External" /><Relationship Id="rId105" Type="http://schemas.openxmlformats.org/officeDocument/2006/relationships/hyperlink" Target="https://www.albion.co/" TargetMode="External" /><Relationship Id="rId106" Type="http://schemas.openxmlformats.org/officeDocument/2006/relationships/hyperlink" Target="https://www.albion.co/" TargetMode="External" /><Relationship Id="rId107" Type="http://schemas.openxmlformats.org/officeDocument/2006/relationships/hyperlink" Target="https://www.albion.co/" TargetMode="External" /><Relationship Id="rId108" Type="http://schemas.openxmlformats.org/officeDocument/2006/relationships/hyperlink" Target="https://www.campaignlive.co.uk/article/doubleclick-buys-tangozebra/636686" TargetMode="External" /><Relationship Id="rId109" Type="http://schemas.openxmlformats.org/officeDocument/2006/relationships/hyperlink" Target="https://www.google.com/dfa/trafficking" TargetMode="External" /><Relationship Id="rId110" Type="http://schemas.openxmlformats.org/officeDocument/2006/relationships/hyperlink" Target="https://www.google.com/dfa/trafficking" TargetMode="External" /><Relationship Id="rId111" Type="http://schemas.openxmlformats.org/officeDocument/2006/relationships/hyperlink" Target="https://www.google.com/" TargetMode="External" /><Relationship Id="rId112" Type="http://schemas.openxmlformats.org/officeDocument/2006/relationships/hyperlink" Target="https://www.google.com/" TargetMode="External" /><Relationship Id="rId113" Type="http://schemas.openxmlformats.org/officeDocument/2006/relationships/hyperlink" Target="http://hi-res.net/" TargetMode="External" /><Relationship Id="rId114" Type="http://schemas.openxmlformats.org/officeDocument/2006/relationships/hyperlink" Target="https://www.blumarine.com/en/blumarine/world-of/designer/anna-molinari" TargetMode="External" /><Relationship Id="rId115" Type="http://schemas.openxmlformats.org/officeDocument/2006/relationships/hyperlink" Target="https://mrm-mccann.com/" TargetMode="External" /><Relationship Id="rId116" Type="http://schemas.openxmlformats.org/officeDocument/2006/relationships/hyperlink" Target="https://mrm-mccann.com/" TargetMode="External" /><Relationship Id="rId117" Type="http://schemas.openxmlformats.org/officeDocument/2006/relationships/hyperlink" Target="https://mrm-mccann.com/" TargetMode="External" /><Relationship Id="rId118" Type="http://schemas.openxmlformats.org/officeDocument/2006/relationships/hyperlink" Target="https://www.sky.com/" TargetMode="External" /><Relationship Id="rId119" Type="http://schemas.openxmlformats.org/officeDocument/2006/relationships/hyperlink" Target="https://www.rapp.com/" TargetMode="External" /><Relationship Id="rId120" Type="http://schemas.openxmlformats.org/officeDocument/2006/relationships/hyperlink" Target="https://www.campaignlive.co.uk/article/saint-co-founders-labbett-gamble-exit-rkcr-y-r-2012/1110202" TargetMode="External" /><Relationship Id="rId121" Type="http://schemas.openxmlformats.org/officeDocument/2006/relationships/hyperlink" Target="https://www.campaignlive.co.uk/article/saint-co-founders-labbett-gamble-exit-rkcr-y-r-2012/1110202" TargetMode="External" /><Relationship Id="rId122" Type="http://schemas.openxmlformats.org/officeDocument/2006/relationships/hyperlink" Target="https://www.campaignlive.co.uk/article/saint-co-founders-labbett-gamble-exit-rkcr-y-r-2012/1110202" TargetMode="External" /><Relationship Id="rId123" Type="http://schemas.openxmlformats.org/officeDocument/2006/relationships/hyperlink" Target="https://www.campaignlive.co.uk/article/dna-snapped-us-interactive-marketing-giant-avenue-a-razorfish/531685" TargetMode="External" /><Relationship Id="rId124" Type="http://schemas.openxmlformats.org/officeDocument/2006/relationships/hyperlink" Target="https://www.campaignlive.co.uk/article/dna-snapped-us-interactive-marketing-giant-avenue-a-razorfish/531685" TargetMode="External" /><Relationship Id="rId125" Type="http://schemas.openxmlformats.org/officeDocument/2006/relationships/hyperlink" Target="https://www.campaignlive.co.uk/article/dna-snapped-us-interactive-marketing-giant-avenue-a-razorfish/531685" TargetMode="External" /><Relationship Id="rId126" Type="http://schemas.openxmlformats.org/officeDocument/2006/relationships/hyperlink" Target="https://www.campaignlive.co.uk/article/dna-snapped-us-interactive-marketing-giant-avenue-a-razorfish/531685" TargetMode="External" /><Relationship Id="rId127" Type="http://schemas.openxmlformats.org/officeDocument/2006/relationships/hyperlink" Target="https://www.campaignlive.co.uk/article/dna-snapped-us-interactive-marketing-giant-avenue-a-razorfish/531685" TargetMode="External" /><Relationship Id="rId128" Type="http://schemas.openxmlformats.org/officeDocument/2006/relationships/hyperlink" Target="https://www.campaignlive.co.uk/article/dna-snapped-us-interactive-marketing-giant-avenue-a-razorfish/531685" TargetMode="External" /><Relationship Id="rId129" Type="http://schemas.openxmlformats.org/officeDocument/2006/relationships/hyperlink" Target="https://www.campaignlive.co.uk/article/dna-snapped-us-interactive-marketing-giant-avenue-a-razorfish/531685" TargetMode="External" /><Relationship Id="rId130" Type="http://schemas.openxmlformats.org/officeDocument/2006/relationships/hyperlink" Target="https://www.campaignlive.co.uk/article/dna-snapped-us-interactive-marketing-giant-avenue-a-razorfish/531685" TargetMode="External" /><Relationship Id="rId131" Type="http://schemas.openxmlformats.org/officeDocument/2006/relationships/hyperlink" Target="https://www.campaignlive.co.uk/article/dna-snapped-us-interactive-marketing-giant-avenue-a-razorfish/531685" TargetMode="External" /><Relationship Id="rId132" Type="http://schemas.openxmlformats.org/officeDocument/2006/relationships/hyperlink" Target="http://www.culturelabagency.com/" TargetMode="External" /><Relationship Id="rId133" Type="http://schemas.openxmlformats.org/officeDocument/2006/relationships/hyperlink" Target="http://www.culturelabagency.com/" TargetMode="External" /><Relationship Id="rId134" Type="http://schemas.openxmlformats.org/officeDocument/2006/relationships/hyperlink" Target="http://www.culturelabagency.com/" TargetMode="External" /><Relationship Id="rId135" Type="http://schemas.openxmlformats.org/officeDocument/2006/relationships/hyperlink" Target="http://www.uwg.is/" TargetMode="External" /><Relationship Id="rId136" Type="http://schemas.openxmlformats.org/officeDocument/2006/relationships/hyperlink" Target="http://www.uwg.is/" TargetMode="External" /><Relationship Id="rId137" Type="http://schemas.openxmlformats.org/officeDocument/2006/relationships/hyperlink" Target="http://www.uwg.is/" TargetMode="Externa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rive.google.com/open?id=11CtRNjNRJSBC0wbqXoJauWBE1UU5AwD2" TargetMode="External" /><Relationship Id="rId3" Type="http://schemas.openxmlformats.org/officeDocument/2006/relationships/hyperlink" Target="http://linkedin.com/in/chrisbelgrave" TargetMode="External" /><Relationship Id="rId4" Type="http://schemas.openxmlformats.org/officeDocument/2006/relationships/hyperlink" Target="mailto:chrisbelgrave@gmail.com" TargetMode="External" /><Relationship Id="rId5" Type="http://schemas.openxmlformats.org/officeDocument/2006/relationships/hyperlink" Target="https://www.linkedin.com/in/chrisbelgrave/" TargetMode="External" /><Relationship Id="rId6" Type="http://schemas.openxmlformats.org/officeDocument/2006/relationships/hyperlink" Target="https://www.linkedin.com/in/chrisbelgrave/" TargetMode="External" /><Relationship Id="rId7" Type="http://schemas.openxmlformats.org/officeDocument/2006/relationships/hyperlink" Target="https://www.linkedin.com/in/chrisbelgrave/"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Christopher Belgrave</a:t>
            </a:r>
          </a:p>
          <a:p>
            <a:pPr lvl="0" indent="0" marL="0">
              <a:buNone/>
            </a:pPr>
            <a:r>
              <a:rPr b="1"/>
              <a:t>Agile Product/Project Manager CSPO</a:t>
            </a:r>
          </a:p>
          <a:p>
            <a:pPr lvl="0" indent="0" marL="0">
              <a:buNone/>
            </a:pPr>
            <a:r>
              <a:rPr/>
              <a:t>email: </a:t>
            </a:r>
            <a:r>
              <a:rPr>
                <a:hlinkClick r:id="rId2"/>
              </a:rPr>
              <a:t>chrisbelgrave@gmail.com</a:t>
            </a:r>
            <a:r>
              <a:rPr/>
              <a:t> |tel: +44 79 123 600 75</a:t>
            </a:r>
          </a:p>
          <a:p>
            <a:pPr lvl="0" indent="0" marL="0">
              <a:buNone/>
            </a:pPr>
            <a:r>
              <a:rPr b="1"/>
              <a:t>CAREER HISTORY:</a:t>
            </a:r>
          </a:p>
          <a:p>
            <a:pPr lvl="0" indent="0" marL="0">
              <a:buNone/>
            </a:pPr>
            <a:r>
              <a:rPr>
                <a:hlinkClick r:id="rId3"/>
              </a:rPr>
              <a:t>Craft Worldwide</a:t>
            </a:r>
          </a:p>
          <a:p>
            <a:pPr lvl="0" indent="0" marL="0">
              <a:buNone/>
            </a:pPr>
            <a:r>
              <a:rPr b="1"/>
              <a:t>Senior Project Manager EMEA</a:t>
            </a:r>
          </a:p>
          <a:p>
            <a:pPr lvl="0" indent="0" marL="0">
              <a:buNone/>
            </a:pPr>
            <a:r>
              <a:rPr b="1"/>
              <a:t>(May 2023-November 23) FTC</a:t>
            </a:r>
          </a:p>
          <a:p>
            <a:pPr lvl="0" indent="0" marL="0">
              <a:buNone/>
            </a:pPr>
            <a:r>
              <a:rPr/>
              <a:t>Spearheading high-impact initiatives across the global network to drive innovation, optimise operations, reduce costs, and boost efficiencies. Key responsibilities include:</a:t>
            </a:r>
          </a:p>
          <a:p>
            <a:pPr lvl="0"/>
            <a:r>
              <a:rPr/>
              <a:t>Providing oversight on diverse projects spanning AR, video production, AI automation, and more.</a:t>
            </a:r>
          </a:p>
          <a:p>
            <a:pPr lvl="0"/>
            <a:r>
              <a:rPr/>
              <a:t>Managing client relationships and partnerships with leading global brands.</a:t>
            </a:r>
          </a:p>
          <a:p>
            <a:pPr lvl="0"/>
            <a:r>
              <a:rPr/>
              <a:t>Pioneering integration of cutting-edge technologies like generative AI, AR, 3D, VFX, and Adobe workflows.</a:t>
            </a:r>
          </a:p>
          <a:p>
            <a:pPr lvl="0"/>
            <a:r>
              <a:rPr/>
              <a:t>Leading offshore team setup and AI workflow automation for operational efficiency.</a:t>
            </a:r>
          </a:p>
          <a:p>
            <a:pPr lvl="0"/>
            <a:r>
              <a:rPr/>
              <a:t>Onboarding of newly partnered agency</a:t>
            </a:r>
          </a:p>
          <a:p>
            <a:pPr lvl="0" indent="0" marL="1270000">
              <a:buNone/>
            </a:pPr>
            <a:r>
              <a:rPr sz="2000">
                <a:hlinkClick r:id="rId4"/>
              </a:rPr>
              <a:t>Threedium</a:t>
            </a:r>
            <a:r>
              <a:rPr sz="2000"/>
              <a:t> on AR projects for</a:t>
            </a:r>
          </a:p>
          <a:p>
            <a:pPr lvl="0" indent="0" marL="1270000">
              <a:buNone/>
            </a:pPr>
            <a:r>
              <a:rPr sz="2000"/>
              <a:t>LOreal/</a:t>
            </a:r>
            <a:r>
              <a:rPr sz="2000">
                <a:hlinkClick r:id="rId5"/>
              </a:rPr>
              <a:t>Maybelline</a:t>
            </a:r>
          </a:p>
          <a:p>
            <a:pPr lvl="0"/>
            <a:r>
              <a:rPr/>
              <a:t>Heading business transformation activities including virtual studio, prompt training and workflow automation.</a:t>
            </a:r>
          </a:p>
          <a:p>
            <a:pPr lvl="0"/>
            <a:r>
              <a:rPr/>
              <a:t>Conducting performance analysis to inform strategies.</a:t>
            </a:r>
          </a:p>
          <a:p>
            <a:pPr lvl="0"/>
            <a:r>
              <a:rPr/>
              <a:t>Fostering collaboration across the global IPG network agencies.</a:t>
            </a:r>
          </a:p>
          <a:p>
            <a:pPr lvl="0" indent="0" marL="0">
              <a:buNone/>
            </a:pPr>
            <a:r>
              <a:rPr b="1">
                <a:hlinkClick r:id="rId6"/>
              </a:rPr>
              <a:t>WPP</a:t>
            </a:r>
            <a:r>
              <a:rPr b="1"/>
              <a:t> |OpenX</a:t>
            </a:r>
          </a:p>
          <a:p>
            <a:pPr lvl="0" indent="0" marL="0">
              <a:buNone/>
            </a:pPr>
            <a:r>
              <a:rPr b="1"/>
              <a:t>Senior Project Manager, Marketing &amp; Growth</a:t>
            </a:r>
          </a:p>
          <a:p>
            <a:pPr lvl="0" indent="0" marL="0">
              <a:buNone/>
            </a:pPr>
            <a:r>
              <a:rPr b="1"/>
              <a:t>(December 2021 -October 2022) Contract</a:t>
            </a:r>
            <a:r>
              <a:rPr/>
              <a:t> Project managing end to end Global charters integrated &amp; </a:t>
            </a:r>
            <a:r>
              <a:rPr>
                <a:hlinkClick r:id="rId7"/>
              </a:rPr>
              <a:t>digital</a:t>
            </a:r>
            <a:r>
              <a:rPr/>
              <a:t> for The Coca-Cola Company (TCCC) various IPs on Sprite, </a:t>
            </a:r>
            <a:r>
              <a:rPr>
                <a:hlinkClick r:id="rId8"/>
              </a:rPr>
              <a:t>Fanta</a:t>
            </a:r>
            <a:r>
              <a:rPr/>
              <a:t> &amp; emerging alcoholic RTD’s </a:t>
            </a:r>
            <a:r>
              <a:rPr>
                <a:hlinkClick r:id="rId9"/>
              </a:rPr>
              <a:t>Jack &amp; Coke,</a:t>
            </a:r>
            <a:r>
              <a:rPr/>
              <a:t> </a:t>
            </a:r>
            <a:r>
              <a:rPr>
                <a:hlinkClick r:id="rId10"/>
              </a:rPr>
              <a:t>Lemon Dou</a:t>
            </a:r>
            <a:r>
              <a:rPr/>
              <a:t>, </a:t>
            </a:r>
            <a:r>
              <a:rPr>
                <a:hlinkClick r:id="rId11"/>
              </a:rPr>
              <a:t>Topo Chico</a:t>
            </a:r>
            <a:r>
              <a:rPr/>
              <a:t> driving integrated creative delivery across WPP owned agencies(Ogilvy, AKQA, David, Grey, Wunderman Thomson, VML Y&amp;R, Havas, Mediacom etc) working in the OpenX agency team format.</a:t>
            </a:r>
          </a:p>
          <a:p>
            <a:pPr lvl="0" indent="0" marL="0">
              <a:buNone/>
            </a:pPr>
            <a:r>
              <a:rPr b="1">
                <a:hlinkClick r:id="rId12"/>
              </a:rPr>
              <a:t>Trailer</a:t>
            </a:r>
            <a:r>
              <a:rPr>
                <a:hlinkClick r:id="rId13"/>
              </a:rPr>
              <a:t> </a:t>
            </a:r>
            <a:r>
              <a:rPr b="1">
                <a:hlinkClick r:id="rId14"/>
              </a:rPr>
              <a:t>Farm</a:t>
            </a:r>
          </a:p>
          <a:p>
            <a:pPr lvl="0" indent="0" marL="0">
              <a:buNone/>
            </a:pPr>
            <a:r>
              <a:rPr b="1"/>
              <a:t>Project manager (October 2021- January 2022) Contract</a:t>
            </a:r>
            <a:r>
              <a:rPr/>
              <a:t> Worked with 3D, Unreal, Unity, Maya, gaming engines, project planning using </a:t>
            </a:r>
            <a:r>
              <a:rPr>
                <a:hlinkClick r:id="rId15"/>
              </a:rPr>
              <a:t>ClickUp</a:t>
            </a:r>
            <a:r>
              <a:rPr/>
              <a:t> budgets, briefs, </a:t>
            </a:r>
            <a:r>
              <a:rPr>
                <a:hlinkClick r:id="rId16"/>
              </a:rPr>
              <a:t>‘A Quiet Place’ video game trailer</a:t>
            </a:r>
            <a:r>
              <a:rPr/>
              <a:t>, </a:t>
            </a:r>
            <a:r>
              <a:rPr>
                <a:hlinkClick r:id="rId17"/>
              </a:rPr>
              <a:t>Marvelous Games</a:t>
            </a:r>
            <a:r>
              <a:rPr/>
              <a:t> </a:t>
            </a:r>
            <a:r>
              <a:rPr>
                <a:hlinkClick r:id="rId18"/>
              </a:rPr>
              <a:t>Rune Factory 5</a:t>
            </a:r>
            <a:r>
              <a:rPr/>
              <a:t> for game publishers &amp; AAA game studios managing teams consisting of creatives, developers, video editor and 3D artists. Producing Voiceovers with VO artists &amp; client facing.</a:t>
            </a:r>
          </a:p>
          <a:p>
            <a:pPr lvl="0" indent="0" marL="0">
              <a:buNone/>
            </a:pPr>
            <a:r>
              <a:rPr b="1">
                <a:hlinkClick r:id="rId19"/>
              </a:rPr>
              <a:t>RG/A</a:t>
            </a:r>
          </a:p>
          <a:p>
            <a:pPr lvl="0" indent="0" marL="0">
              <a:buNone/>
            </a:pPr>
            <a:r>
              <a:rPr b="1"/>
              <a:t>Senior Project Manager (June-October 2021)</a:t>
            </a:r>
          </a:p>
          <a:p>
            <a:pPr lvl="0" indent="0" marL="0">
              <a:buNone/>
            </a:pPr>
            <a:r>
              <a:rPr>
                <a:hlinkClick r:id="rId20"/>
              </a:rPr>
              <a:t>Allianz</a:t>
            </a:r>
            <a:r>
              <a:rPr/>
              <a:t> project management - RACI, timing plans, UX/UI design,</a:t>
            </a:r>
          </a:p>
          <a:p>
            <a:pPr lvl="0" indent="0" marL="0">
              <a:buNone/>
            </a:pPr>
            <a:r>
              <a:rPr/>
              <a:t>Confluence setup, Figma, Miro, daily stand-ups, budgets &amp; SOWs.</a:t>
            </a:r>
          </a:p>
          <a:p>
            <a:pPr lvl="0" indent="0" marL="0">
              <a:buNone/>
            </a:pPr>
            <a:r>
              <a:rPr b="1">
                <a:hlinkClick r:id="rId21"/>
              </a:rPr>
              <a:t>Sullivan</a:t>
            </a:r>
            <a:r>
              <a:rPr>
                <a:hlinkClick r:id="rId22"/>
              </a:rPr>
              <a:t> </a:t>
            </a:r>
            <a:r>
              <a:rPr b="1">
                <a:hlinkClick r:id="rId23"/>
              </a:rPr>
              <a:t>and</a:t>
            </a:r>
            <a:r>
              <a:rPr>
                <a:hlinkClick r:id="rId24"/>
              </a:rPr>
              <a:t> </a:t>
            </a:r>
            <a:r>
              <a:rPr b="1">
                <a:hlinkClick r:id="rId25"/>
              </a:rPr>
              <a:t>Stanley</a:t>
            </a:r>
          </a:p>
          <a:p>
            <a:pPr lvl="0" indent="0" marL="0">
              <a:buNone/>
            </a:pPr>
            <a:r>
              <a:rPr b="1"/>
              <a:t>Business Analyst/Product Owner (December 2020-Feb 2021)</a:t>
            </a:r>
            <a:r>
              <a:rPr/>
              <a:t> I gathered tech and business requirements from potential partners to build an Omnichannel tech stack, including CDP, CRM, CM, etc. The tech stack is for a confidential project at a dominant company, and it evaluates mission-critical information. Further details are unavailable due to an NDA.</a:t>
            </a:r>
          </a:p>
          <a:p>
            <a:pPr lvl="0" indent="0" marL="0">
              <a:buNone/>
            </a:pPr>
            <a:r>
              <a:rPr b="1">
                <a:hlinkClick r:id="rId26"/>
              </a:rPr>
              <a:t>Critical</a:t>
            </a:r>
            <a:r>
              <a:rPr>
                <a:hlinkClick r:id="rId27"/>
              </a:rPr>
              <a:t> </a:t>
            </a:r>
            <a:r>
              <a:rPr b="1">
                <a:hlinkClick r:id="rId28"/>
              </a:rPr>
              <a:t>Mass</a:t>
            </a:r>
          </a:p>
          <a:p>
            <a:pPr lvl="0" indent="0" marL="0">
              <a:buNone/>
            </a:pPr>
            <a:r>
              <a:rPr b="1"/>
              <a:t>Business analyst/PO (March- June 2020) Contract</a:t>
            </a:r>
            <a:r>
              <a:rPr/>
              <a:t> For </a:t>
            </a:r>
            <a:r>
              <a:rPr>
                <a:hlinkClick r:id="rId29"/>
              </a:rPr>
              <a:t>Mitsubishi</a:t>
            </a:r>
            <a:r>
              <a:rPr/>
              <a:t>, I implemented cookie management for GDPR compliance on their EU websites, wrote user stories for a custom Google Tag Manager, and collaborated with third-party solutions. I also worked closely with the Dev and PM teams on two-week sprints in an agile environment.</a:t>
            </a:r>
          </a:p>
          <a:p>
            <a:pPr lvl="0" indent="0" marL="0">
              <a:buNone/>
            </a:pPr>
            <a:r>
              <a:rPr b="1">
                <a:hlinkClick r:id="rId30"/>
              </a:rPr>
              <a:t>Sennep</a:t>
            </a:r>
          </a:p>
          <a:p>
            <a:pPr lvl="0" indent="0" marL="0">
              <a:buNone/>
            </a:pPr>
            <a:r>
              <a:rPr b="1"/>
              <a:t>Product Manager (July -November 2019) Contract</a:t>
            </a:r>
            <a:r>
              <a:rPr/>
              <a:t> I developed a mobile cross-platform app with </a:t>
            </a:r>
            <a:r>
              <a:rPr>
                <a:hlinkClick r:id="rId31"/>
              </a:rPr>
              <a:t>Roli</a:t>
            </a:r>
            <a:r>
              <a:rPr/>
              <a:t> that works with their LED electronic keyboard. The Agile Scrum framework was used for FullStack development with JS React Native, Unity, and C++. I worked closely with the API platform team, QA team, and UI/UX design teams. We delivered releases in two-week Agile sprints. </a:t>
            </a:r>
            <a:r>
              <a:rPr>
                <a:hlinkClick r:id="rId32"/>
              </a:rPr>
              <a:t>https://playlumi.com</a:t>
            </a:r>
          </a:p>
          <a:p>
            <a:pPr lvl="0" indent="0" marL="0">
              <a:buNone/>
            </a:pPr>
            <a:r>
              <a:rPr b="1">
                <a:hlinkClick r:id="rId33"/>
              </a:rPr>
              <a:t>Gildan</a:t>
            </a:r>
          </a:p>
          <a:p>
            <a:pPr lvl="0" indent="0" marL="0">
              <a:buNone/>
            </a:pPr>
            <a:r>
              <a:rPr b="1"/>
              <a:t>Project Manager (June-Sept 2018) Contract</a:t>
            </a:r>
          </a:p>
          <a:p>
            <a:pPr lvl="0" indent="0" marL="0">
              <a:buNone/>
            </a:pPr>
            <a:r>
              <a:rPr/>
              <a:t>I worked on multiple website designs with IT and eCommerce teams, including </a:t>
            </a:r>
            <a:r>
              <a:rPr>
                <a:hlinkClick r:id="rId34"/>
              </a:rPr>
              <a:t>American Apparel</a:t>
            </a:r>
            <a:r>
              <a:rPr/>
              <a:t> and other Gildan clothing brands. My responsibilities involved scoping, budgeting, and integrating Oracle JDEdwards on eCommerce platforms and Smarter Commerce CMS. I also managed daily project tasks with Smartsheet and liaised with digital development teams.</a:t>
            </a:r>
          </a:p>
          <a:p>
            <a:pPr lvl="0" indent="0" marL="0">
              <a:buNone/>
            </a:pPr>
            <a:r>
              <a:rPr b="1"/>
              <a:t>Belgrave Digital</a:t>
            </a:r>
            <a:r>
              <a:rPr/>
              <a:t> </a:t>
            </a:r>
            <a:r>
              <a:rPr b="1"/>
              <a:t>(Oct 2014 - 2021)</a:t>
            </a:r>
          </a:p>
          <a:p>
            <a:pPr lvl="0" indent="0" marL="0">
              <a:buNone/>
            </a:pPr>
            <a:r>
              <a:rPr b="1"/>
              <a:t>Independent Producer/Project Manager</a:t>
            </a:r>
          </a:p>
          <a:p>
            <a:pPr lvl="0" indent="0" marL="0">
              <a:buNone/>
            </a:pPr>
            <a:r>
              <a:rPr/>
              <a:t>Integrated producing &amp; project managing along with client facing Dynamic HTML5 rich media banners/eCRM email campaigns for agencies such as </a:t>
            </a:r>
            <a:r>
              <a:rPr>
                <a:hlinkClick r:id="rId35"/>
              </a:rPr>
              <a:t>Bossa NYC</a:t>
            </a:r>
            <a:r>
              <a:rPr>
                <a:hlinkClick r:id="rId36"/>
              </a:rPr>
              <a:t>, AMV BBDO</a:t>
            </a:r>
            <a:r>
              <a:rPr>
                <a:hlinkClick r:id="rId37"/>
              </a:rPr>
              <a:t>, Hogarth WW</a:t>
            </a:r>
            <a:r>
              <a:rPr>
                <a:hlinkClick r:id="rId38"/>
              </a:rPr>
              <a:t>, BBH</a:t>
            </a:r>
            <a:r>
              <a:rPr>
                <a:hlinkClick r:id="rId39"/>
              </a:rPr>
              <a:t>, Digitas LB</a:t>
            </a:r>
            <a:r>
              <a:rPr>
                <a:hlinkClick r:id="rId40"/>
              </a:rPr>
              <a:t>i WilliamsLeaTAG</a:t>
            </a:r>
            <a:r>
              <a:rPr>
                <a:hlinkClick r:id="rId41"/>
              </a:rPr>
              <a:t>, The Corner London</a:t>
            </a:r>
            <a:r>
              <a:rPr/>
              <a:t>,</a:t>
            </a:r>
          </a:p>
          <a:p>
            <a:pPr lvl="0" indent="0" marL="0">
              <a:buNone/>
            </a:pPr>
            <a:r>
              <a:rPr/>
              <a:t>Freedman International, MRM, </a:t>
            </a:r>
            <a:r>
              <a:rPr>
                <a:hlinkClick r:id="rId42"/>
              </a:rPr>
              <a:t>Fundamental Media</a:t>
            </a:r>
            <a:r>
              <a:rPr/>
              <a:t> </a:t>
            </a:r>
            <a:r>
              <a:rPr>
                <a:hlinkClick r:id="rId43"/>
              </a:rPr>
              <a:t>&amp;</a:t>
            </a:r>
            <a:r>
              <a:rPr/>
              <a:t> </a:t>
            </a:r>
            <a:r>
              <a:rPr>
                <a:hlinkClick r:id="rId44"/>
              </a:rPr>
              <a:t>Wunderman</a:t>
            </a:r>
            <a:r>
              <a:rPr/>
              <a:t>. High profile and large budget client campaigns both print and Digital for Apple, Oracle, checkout.com, Sainsburys, Galaxy Chocolate, BT, Emirates, British Airways,</a:t>
            </a:r>
          </a:p>
          <a:p>
            <a:pPr lvl="0" indent="0" marL="0">
              <a:buNone/>
            </a:pPr>
            <a:r>
              <a:rPr/>
              <a:t>Skip, Standard Life, Fitbit, H&amp;M, iRobot, Lloyds Banking Group, BTMI, Flybe, L’Oréal, Autotrader &amp; Vauxhall/Opal. Website redesign and build for </a:t>
            </a:r>
            <a:r>
              <a:rPr>
                <a:hlinkClick r:id="rId45"/>
              </a:rPr>
              <a:t>gacaribbean.com</a:t>
            </a:r>
            <a:r>
              <a:rPr/>
              <a:t> in collaboration with fitdigital.co.uk along with a Sitecore Build </a:t>
            </a:r>
            <a:r>
              <a:rPr>
                <a:hlinkClick r:id="rId46"/>
              </a:rPr>
              <a:t>uk.mixa.com</a:t>
            </a:r>
            <a:r>
              <a:rPr/>
              <a:t> for </a:t>
            </a:r>
            <a:r>
              <a:rPr>
                <a:hlinkClick r:id="rId47"/>
              </a:rPr>
              <a:t>L’Oreal</a:t>
            </a:r>
            <a:r>
              <a:rPr/>
              <a:t>.</a:t>
            </a:r>
          </a:p>
          <a:p>
            <a:pPr lvl="0" indent="0" marL="0">
              <a:buNone/>
            </a:pPr>
            <a:r>
              <a:rPr b="1">
                <a:hlinkClick r:id="rId48"/>
              </a:rPr>
              <a:t>Meri</a:t>
            </a:r>
            <a:r>
              <a:rPr>
                <a:hlinkClick r:id="rId49"/>
              </a:rPr>
              <a:t> </a:t>
            </a:r>
            <a:r>
              <a:rPr b="1">
                <a:hlinkClick r:id="rId50"/>
              </a:rPr>
              <a:t>Media</a:t>
            </a:r>
          </a:p>
          <a:p>
            <a:pPr lvl="0" indent="0" marL="0">
              <a:buNone/>
            </a:pPr>
            <a:r>
              <a:rPr b="1"/>
              <a:t>Senior Project Manager</a:t>
            </a:r>
            <a:r>
              <a:rPr/>
              <a:t> (Nov - Jan 2015)</a:t>
            </a:r>
          </a:p>
          <a:p>
            <a:pPr lvl="0" indent="0" marL="0">
              <a:buNone/>
            </a:pPr>
            <a:r>
              <a:rPr/>
              <a:t>Client facing and launch of a new clothing line from Diesel called </a:t>
            </a:r>
            <a:r>
              <a:rPr>
                <a:hlinkClick r:id="rId51"/>
              </a:rPr>
              <a:t>D:CODE</a:t>
            </a:r>
            <a:r>
              <a:rPr/>
              <a:t>. Creating CRM and brand identity/Guidelines. Dunhill Luxury Men’s clothing banner Campaign. Generated Scopes of work and timing plans for specific projects along with managing a creative team including art directors, designers/ developers and video editors.</a:t>
            </a:r>
          </a:p>
          <a:p>
            <a:pPr lvl="0" indent="0" marL="0">
              <a:buNone/>
            </a:pPr>
            <a:r>
              <a:rPr b="1">
                <a:hlinkClick r:id="rId52"/>
              </a:rPr>
              <a:t>Red</a:t>
            </a:r>
            <a:r>
              <a:rPr>
                <a:hlinkClick r:id="rId53"/>
              </a:rPr>
              <a:t> </a:t>
            </a:r>
            <a:r>
              <a:rPr b="1">
                <a:hlinkClick r:id="rId54"/>
              </a:rPr>
              <a:t>Bee</a:t>
            </a:r>
            <a:r>
              <a:rPr>
                <a:hlinkClick r:id="rId55"/>
              </a:rPr>
              <a:t> </a:t>
            </a:r>
            <a:r>
              <a:rPr b="1">
                <a:hlinkClick r:id="rId56"/>
              </a:rPr>
              <a:t>Media</a:t>
            </a:r>
          </a:p>
          <a:p>
            <a:pPr lvl="0" indent="0" marL="0">
              <a:buNone/>
            </a:pPr>
            <a:r>
              <a:rPr b="1"/>
              <a:t>Digital producer</a:t>
            </a:r>
            <a:r>
              <a:rPr/>
              <a:t> (Feb - Oct 2014)</a:t>
            </a:r>
          </a:p>
          <a:p>
            <a:pPr lvl="0" indent="0" marL="0">
              <a:buNone/>
            </a:pPr>
            <a:r>
              <a:rPr/>
              <a:t>Responsive Footer and banner webpage creative for BBC and UKTV’s home page website properties </a:t>
            </a:r>
            <a:r>
              <a:rPr>
                <a:hlinkClick r:id="rId57"/>
              </a:rPr>
              <a:t>(Doctor Who) which included a playable leaderboard banner game</a:t>
            </a:r>
            <a:r>
              <a:rPr/>
              <a:t> &amp; content. Pitch delivery team, creative concepting along with day-to-day project management duties and managed a small team of designers/developers.</a:t>
            </a:r>
          </a:p>
          <a:p>
            <a:pPr lvl="0" indent="0" marL="0">
              <a:buNone/>
            </a:pPr>
            <a:r>
              <a:rPr b="1">
                <a:hlinkClick r:id="rId58"/>
              </a:rPr>
              <a:t>Leagas</a:t>
            </a:r>
            <a:r>
              <a:rPr>
                <a:hlinkClick r:id="rId59"/>
              </a:rPr>
              <a:t> </a:t>
            </a:r>
            <a:r>
              <a:rPr b="1">
                <a:hlinkClick r:id="rId60"/>
              </a:rPr>
              <a:t>Delaney</a:t>
            </a:r>
          </a:p>
          <a:p>
            <a:pPr lvl="0" indent="0" marL="0">
              <a:buNone/>
            </a:pPr>
            <a:r>
              <a:rPr b="1"/>
              <a:t>Digital Projects Director</a:t>
            </a:r>
            <a:r>
              <a:rPr/>
              <a:t> (Nov - Dec 2013) I have managed global campaigns like </a:t>
            </a:r>
            <a:r>
              <a:rPr>
                <a:hlinkClick r:id="rId61"/>
              </a:rPr>
              <a:t>Patek Philippe</a:t>
            </a:r>
            <a:r>
              <a:rPr/>
              <a:t> and worked on rich media banners, iAd iOS mobile creative, and email marketing. I've organized creative and design teams, used </a:t>
            </a:r>
            <a:r>
              <a:rPr>
                <a:hlinkClick r:id="rId62"/>
              </a:rPr>
              <a:t>MediaMind's ad platform</a:t>
            </a:r>
            <a:r>
              <a:rPr/>
              <a:t> for uploading creatives, and managed outsourcing to third-party vendors. Also handling accounts payable for clients. </a:t>
            </a:r>
            <a:r>
              <a:rPr>
                <a:hlinkClick r:id="rId63"/>
              </a:rPr>
              <a:t>Feel Unique Facebook app</a:t>
            </a:r>
            <a:r>
              <a:rPr/>
              <a:t> build, </a:t>
            </a:r>
            <a:r>
              <a:rPr>
                <a:hlinkClick r:id="rId64"/>
              </a:rPr>
              <a:t>Pictet</a:t>
            </a:r>
            <a:r>
              <a:rPr/>
              <a:t> and MSC.</a:t>
            </a:r>
          </a:p>
          <a:p>
            <a:pPr lvl="0" indent="0" marL="0">
              <a:buNone/>
            </a:pPr>
            <a:r>
              <a:rPr b="1">
                <a:hlinkClick r:id="rId65"/>
              </a:rPr>
              <a:t>Skype</a:t>
            </a:r>
            <a:r>
              <a:rPr b="1"/>
              <a:t> </a:t>
            </a:r>
            <a:r>
              <a:rPr b="1">
                <a:hlinkClick r:id="rId66"/>
              </a:rPr>
              <a:t>/</a:t>
            </a:r>
            <a:r>
              <a:rPr/>
              <a:t> </a:t>
            </a:r>
            <a:r>
              <a:rPr b="1">
                <a:hlinkClick r:id="rId67"/>
              </a:rPr>
              <a:t>Microsoft</a:t>
            </a:r>
            <a:r>
              <a:rPr>
                <a:hlinkClick r:id="rId68"/>
              </a:rPr>
              <a:t> </a:t>
            </a:r>
            <a:r>
              <a:rPr b="1">
                <a:hlinkClick r:id="rId69"/>
              </a:rPr>
              <a:t>Advertising</a:t>
            </a:r>
          </a:p>
          <a:p>
            <a:pPr lvl="0" indent="0" marL="0">
              <a:buNone/>
            </a:pPr>
            <a:r>
              <a:rPr b="1"/>
              <a:t>Advertising Product Manager</a:t>
            </a:r>
            <a:r>
              <a:rPr/>
              <a:t> (Apr-Oct 2013)</a:t>
            </a:r>
          </a:p>
          <a:p>
            <a:pPr lvl="0" indent="0" marL="0">
              <a:buNone/>
            </a:pPr>
            <a:r>
              <a:rPr/>
              <a:t>Global digital solutions provider working with Microsoft and 3rd party agencies across time zones. Offered technical and creative support for web/mobile platforms. Collaborated on ideation, ad proposals, user flows, and project delivery. Provided consulting to clients, sales, and external partners.</a:t>
            </a:r>
          </a:p>
          <a:p>
            <a:pPr lvl="0" indent="0" marL="0">
              <a:buNone/>
            </a:pPr>
            <a:r>
              <a:rPr>
                <a:hlinkClick r:id="rId70"/>
              </a:rPr>
              <a:t>www.Itube.com/watch?v=l934XTKC46Q&amp;</a:t>
            </a:r>
          </a:p>
          <a:p>
            <a:pPr lvl="0" indent="0" marL="0">
              <a:buNone/>
            </a:pPr>
            <a:r>
              <a:rPr b="1">
                <a:hlinkClick r:id="rId71"/>
              </a:rPr>
              <a:t>IPC</a:t>
            </a:r>
            <a:r>
              <a:rPr>
                <a:hlinkClick r:id="rId72"/>
              </a:rPr>
              <a:t> </a:t>
            </a:r>
            <a:r>
              <a:rPr b="1">
                <a:hlinkClick r:id="rId73"/>
              </a:rPr>
              <a:t>Media</a:t>
            </a:r>
            <a:r>
              <a:rPr>
                <a:hlinkClick r:id="rId74"/>
              </a:rPr>
              <a:t> </a:t>
            </a:r>
            <a:r>
              <a:rPr b="1">
                <a:hlinkClick r:id="rId75"/>
              </a:rPr>
              <a:t>-</a:t>
            </a:r>
            <a:r>
              <a:rPr>
                <a:hlinkClick r:id="rId76"/>
              </a:rPr>
              <a:t> </a:t>
            </a:r>
            <a:r>
              <a:rPr b="1">
                <a:hlinkClick r:id="rId77"/>
              </a:rPr>
              <a:t>Time</a:t>
            </a:r>
            <a:r>
              <a:rPr>
                <a:hlinkClick r:id="rId78"/>
              </a:rPr>
              <a:t> </a:t>
            </a:r>
            <a:r>
              <a:rPr b="1">
                <a:hlinkClick r:id="rId79"/>
              </a:rPr>
              <a:t>Inc</a:t>
            </a:r>
          </a:p>
          <a:p>
            <a:pPr lvl="0" indent="0" marL="0">
              <a:buNone/>
            </a:pPr>
            <a:r>
              <a:rPr b="1"/>
              <a:t>Digital Product Marketing Manager</a:t>
            </a:r>
            <a:r>
              <a:rPr/>
              <a:t> for </a:t>
            </a:r>
            <a:r>
              <a:rPr>
                <a:hlinkClick r:id="rId80"/>
              </a:rPr>
              <a:t>trustedreviews.com</a:t>
            </a:r>
          </a:p>
          <a:p>
            <a:pPr lvl="0" indent="0" marL="0">
              <a:buNone/>
            </a:pPr>
            <a:r>
              <a:rPr/>
              <a:t>(Nov 2012 - Mar 2013)</a:t>
            </a:r>
          </a:p>
          <a:p>
            <a:pPr lvl="0" indent="0" marL="0">
              <a:buNone/>
            </a:pPr>
            <a:r>
              <a:rPr/>
              <a:t>Led digital marketing campaigns and strategy across digital, mobile, and social platforms. Set KPIs, metrics, identified innovations and partnerships. Supported marketing solutions through process improvements and content uploads. Worked with developers using Agile and Scrum, and utilised SEO, analytics, and social media tools.</a:t>
            </a:r>
          </a:p>
          <a:p>
            <a:pPr lvl="0" indent="0" marL="0">
              <a:buNone/>
            </a:pPr>
            <a:r>
              <a:rPr b="1">
                <a:hlinkClick r:id="rId81"/>
              </a:rPr>
              <a:t>Spring</a:t>
            </a:r>
            <a:r>
              <a:rPr>
                <a:hlinkClick r:id="rId82"/>
              </a:rPr>
              <a:t> </a:t>
            </a:r>
            <a:r>
              <a:rPr b="1">
                <a:hlinkClick r:id="rId83"/>
              </a:rPr>
              <a:t>Creative</a:t>
            </a:r>
          </a:p>
          <a:p>
            <a:pPr lvl="0" indent="0" marL="0">
              <a:buNone/>
            </a:pPr>
            <a:r>
              <a:rPr b="1"/>
              <a:t>Technical Project Manager</a:t>
            </a:r>
            <a:r>
              <a:rPr/>
              <a:t> (Jun - Sept 2012) Working with luxury fashion brands along with four in-house developers with client facing consultation. The main software used was Magento, Enterprise resource planning (ERP), JavaScript, HTML 5/CSS on a large fashion eCommerce build. huntergather.com and dblspk.com.</a:t>
            </a:r>
          </a:p>
          <a:p>
            <a:pPr lvl="0" indent="0" marL="0">
              <a:buNone/>
            </a:pPr>
            <a:r>
              <a:rPr b="1">
                <a:hlinkClick r:id="rId84"/>
              </a:rPr>
              <a:t>adam&amp;eveDDB</a:t>
            </a:r>
            <a:r>
              <a:rPr>
                <a:hlinkClick r:id="rId85"/>
              </a:rPr>
              <a:t> </a:t>
            </a:r>
            <a:r>
              <a:rPr b="1">
                <a:hlinkClick r:id="rId86"/>
              </a:rPr>
              <a:t>London</a:t>
            </a:r>
          </a:p>
          <a:p>
            <a:pPr lvl="0" indent="0" marL="0">
              <a:buNone/>
            </a:pPr>
            <a:r>
              <a:rPr b="1"/>
              <a:t>Digital Producer</a:t>
            </a:r>
            <a:r>
              <a:rPr/>
              <a:t> (Feb - Mar 2012)</a:t>
            </a:r>
          </a:p>
          <a:p>
            <a:pPr lvl="0" indent="0" marL="0">
              <a:buNone/>
            </a:pPr>
            <a:r>
              <a:rPr/>
              <a:t>Produced green screen video shoot for Halifax Bank's rich media banner page takeovers. Managed third party delivery and client/in-house creative liaising.</a:t>
            </a:r>
          </a:p>
          <a:p>
            <a:pPr lvl="0" indent="0" marL="0">
              <a:buNone/>
            </a:pPr>
            <a:r>
              <a:rPr b="1">
                <a:hlinkClick r:id="rId87"/>
              </a:rPr>
              <a:t>Hearst</a:t>
            </a:r>
            <a:r>
              <a:rPr b="1"/>
              <a:t> Magazines Digital Media</a:t>
            </a:r>
            <a:r>
              <a:rPr/>
              <a:t> London</a:t>
            </a:r>
          </a:p>
          <a:p>
            <a:pPr lvl="0" indent="0" marL="0">
              <a:buNone/>
            </a:pPr>
            <a:r>
              <a:rPr b="1"/>
              <a:t>Project manager</a:t>
            </a:r>
            <a:r>
              <a:rPr/>
              <a:t> (Jan-Feb 2012)</a:t>
            </a:r>
          </a:p>
          <a:p>
            <a:pPr lvl="0" indent="0" marL="0">
              <a:buNone/>
            </a:pPr>
            <a:r>
              <a:rPr/>
              <a:t>Cross-branded advertorials on Hearst's sites, interactive videos and photo shoots for Cosmopolitan and Dorothy Perkins.</a:t>
            </a:r>
          </a:p>
          <a:p>
            <a:pPr lvl="0" indent="0" marL="0">
              <a:buNone/>
            </a:pPr>
            <a:r>
              <a:rPr b="1">
                <a:hlinkClick r:id="rId88"/>
              </a:rPr>
              <a:t>Jimmy</a:t>
            </a:r>
            <a:r>
              <a:rPr>
                <a:hlinkClick r:id="rId89"/>
              </a:rPr>
              <a:t> </a:t>
            </a:r>
            <a:r>
              <a:rPr b="1">
                <a:hlinkClick r:id="rId90"/>
              </a:rPr>
              <a:t>Choo</a:t>
            </a:r>
          </a:p>
          <a:p>
            <a:pPr lvl="0" indent="0" marL="0">
              <a:buNone/>
            </a:pPr>
            <a:r>
              <a:rPr b="1"/>
              <a:t>Digital Project Manager</a:t>
            </a:r>
            <a:r>
              <a:rPr/>
              <a:t> (Nov 2011)</a:t>
            </a:r>
          </a:p>
          <a:p>
            <a:pPr lvl="0" indent="0" marL="0">
              <a:buNone/>
            </a:pPr>
            <a:r>
              <a:rPr/>
              <a:t>Build and design of Jimmy Choo US website and eCommerce content management.</a:t>
            </a:r>
          </a:p>
          <a:p>
            <a:pPr lvl="0" indent="0" marL="0">
              <a:buNone/>
            </a:pPr>
            <a:r>
              <a:rPr b="1">
                <a:hlinkClick r:id="rId91"/>
              </a:rPr>
              <a:t>Burberry</a:t>
            </a:r>
          </a:p>
          <a:p>
            <a:pPr lvl="0" indent="0" marL="0">
              <a:buNone/>
            </a:pPr>
            <a:r>
              <a:rPr b="1"/>
              <a:t>Digital Project Manager</a:t>
            </a:r>
            <a:r>
              <a:rPr/>
              <a:t> (Jun - Jul 2011)</a:t>
            </a:r>
          </a:p>
          <a:p>
            <a:pPr lvl="0" indent="0" marL="0">
              <a:buNone/>
            </a:pPr>
            <a:r>
              <a:rPr/>
              <a:t>Implemented a redesign of the world site, Worldstore, (responsive UI) mobile site and iPhone Facebook app. Duties involved organising UX, design and build schedules with 3rd parties involving Creative agencies and IT partners </a:t>
            </a:r>
            <a:r>
              <a:rPr>
                <a:hlinkClick r:id="rId92"/>
              </a:rPr>
              <a:t>(Capgemini</a:t>
            </a:r>
            <a:r>
              <a:rPr/>
              <a:t>) in an Agile and waterfall process.</a:t>
            </a:r>
          </a:p>
          <a:p>
            <a:pPr lvl="0" indent="0" marL="0">
              <a:buNone/>
            </a:pPr>
            <a:r>
              <a:rPr b="1">
                <a:hlinkClick r:id="rId93"/>
              </a:rPr>
              <a:t>Ogilvy</a:t>
            </a:r>
            <a:r>
              <a:rPr>
                <a:hlinkClick r:id="rId94"/>
              </a:rPr>
              <a:t> </a:t>
            </a:r>
            <a:r>
              <a:rPr b="1">
                <a:hlinkClick r:id="rId95"/>
              </a:rPr>
              <a:t>One</a:t>
            </a:r>
          </a:p>
          <a:p>
            <a:pPr lvl="0" indent="0" marL="0">
              <a:buNone/>
            </a:pPr>
            <a:r>
              <a:rPr b="1"/>
              <a:t>Digital Project Manager</a:t>
            </a:r>
            <a:r>
              <a:rPr/>
              <a:t> (Apr - May 2011) Unilever products Comfort, Unilever corporate. Comfort</a:t>
            </a:r>
          </a:p>
          <a:p>
            <a:pPr lvl="0" indent="0" marL="0">
              <a:buNone/>
            </a:pPr>
            <a:r>
              <a:rPr/>
              <a:t>Facebook game and Global intranet for Unilever employees. Budgeted for internal UX teams with third party developers.</a:t>
            </a:r>
          </a:p>
          <a:p>
            <a:pPr lvl="0" indent="0" marL="0">
              <a:buNone/>
            </a:pPr>
            <a:r>
              <a:rPr b="1">
                <a:hlinkClick r:id="rId96"/>
              </a:rPr>
              <a:t>DDB</a:t>
            </a:r>
            <a:r>
              <a:rPr>
                <a:hlinkClick r:id="rId97"/>
              </a:rPr>
              <a:t> </a:t>
            </a:r>
            <a:r>
              <a:rPr b="1">
                <a:hlinkClick r:id="rId98"/>
              </a:rPr>
              <a:t>London</a:t>
            </a:r>
          </a:p>
          <a:p>
            <a:pPr lvl="0" indent="0" marL="0">
              <a:buNone/>
            </a:pPr>
            <a:r>
              <a:rPr b="1"/>
              <a:t>Digital Producer</a:t>
            </a:r>
            <a:r>
              <a:rPr/>
              <a:t> </a:t>
            </a:r>
            <a:r>
              <a:rPr b="1"/>
              <a:t>(Jun 2010-Mar 2011)</a:t>
            </a:r>
            <a:r>
              <a:rPr/>
              <a:t> Clients: Virgin Media, Tropicana, Financial Times B2B, Remember a Charity, Johnson &amp; Johnson, Star Alliance.</a:t>
            </a:r>
          </a:p>
          <a:p>
            <a:pPr lvl="0" indent="0" marL="0">
              <a:buNone/>
            </a:pPr>
            <a:r>
              <a:rPr b="1">
                <a:hlinkClick r:id="rId99"/>
              </a:rPr>
              <a:t>Workclub</a:t>
            </a:r>
          </a:p>
          <a:p>
            <a:pPr lvl="0" indent="0" marL="0">
              <a:buNone/>
            </a:pPr>
            <a:r>
              <a:rPr b="1"/>
              <a:t>Senior Producer</a:t>
            </a:r>
            <a:r>
              <a:rPr/>
              <a:t> (contract)</a:t>
            </a:r>
          </a:p>
          <a:p>
            <a:pPr lvl="0" indent="0" marL="0">
              <a:buNone/>
            </a:pPr>
            <a:r>
              <a:rPr/>
              <a:t>Clients: Nokia, </a:t>
            </a:r>
            <a:r>
              <a:rPr>
                <a:hlinkClick r:id="rId100"/>
              </a:rPr>
              <a:t>Nokia Greenroom</a:t>
            </a:r>
            <a:r>
              <a:rPr/>
              <a:t> mobile/web build.</a:t>
            </a:r>
          </a:p>
          <a:p>
            <a:pPr lvl="0" indent="0" marL="0">
              <a:buNone/>
            </a:pPr>
            <a:r>
              <a:rPr b="1">
                <a:hlinkClick r:id="rId101"/>
              </a:rPr>
              <a:t>Rehab</a:t>
            </a:r>
            <a:r>
              <a:rPr>
                <a:hlinkClick r:id="rId102"/>
              </a:rPr>
              <a:t> </a:t>
            </a:r>
            <a:r>
              <a:rPr b="1">
                <a:hlinkClick r:id="rId103"/>
              </a:rPr>
              <a:t>Studio</a:t>
            </a:r>
          </a:p>
          <a:p>
            <a:pPr lvl="0" indent="0" marL="0">
              <a:buNone/>
            </a:pPr>
            <a:r>
              <a:rPr b="1"/>
              <a:t>Digital Producer</a:t>
            </a:r>
            <a:r>
              <a:rPr/>
              <a:t> (July – Sept 2009)</a:t>
            </a:r>
          </a:p>
          <a:p>
            <a:pPr lvl="0" indent="0" marL="0">
              <a:buNone/>
            </a:pPr>
            <a:r>
              <a:rPr/>
              <a:t>Clients: Toilet Duck </a:t>
            </a:r>
            <a:r>
              <a:rPr>
                <a:hlinkClick r:id="rId104"/>
              </a:rPr>
              <a:t>(DraftFCB</a:t>
            </a:r>
            <a:r>
              <a:rPr/>
              <a:t>), Faberge, and Toyota</a:t>
            </a:r>
          </a:p>
          <a:p>
            <a:pPr lvl="0" indent="0" marL="0">
              <a:buNone/>
            </a:pPr>
            <a:r>
              <a:rPr b="1">
                <a:hlinkClick r:id="rId105"/>
              </a:rPr>
              <a:t>KBS</a:t>
            </a:r>
            <a:r>
              <a:rPr>
                <a:hlinkClick r:id="rId106"/>
              </a:rPr>
              <a:t> </a:t>
            </a:r>
            <a:r>
              <a:rPr b="1">
                <a:hlinkClick r:id="rId107"/>
              </a:rPr>
              <a:t>Albion</a:t>
            </a:r>
            <a:r>
              <a:rPr/>
              <a:t> London</a:t>
            </a:r>
          </a:p>
          <a:p>
            <a:pPr lvl="0" indent="0" marL="0">
              <a:buNone/>
            </a:pPr>
            <a:r>
              <a:rPr b="1"/>
              <a:t>Digital Producer</a:t>
            </a:r>
            <a:r>
              <a:rPr/>
              <a:t> (April – Sept 2008)</a:t>
            </a:r>
          </a:p>
          <a:p>
            <a:pPr lvl="0" indent="0" marL="0">
              <a:buNone/>
            </a:pPr>
            <a:r>
              <a:rPr/>
              <a:t>Managed the build of a Facebook app for BT that recruited 70,000 users for the world's biggest online Mexican wave. Also created a speaking clock art installation for Accurist. Worked with Blackberry, eBay, Skype, Remington, Air New Zealand, BT Fon, Capital One, BSkyB, Accurist, and Absolute Radio.</a:t>
            </a:r>
          </a:p>
          <a:p>
            <a:pPr lvl="0" indent="0" marL="0">
              <a:buNone/>
            </a:pPr>
            <a:r>
              <a:rPr b="1">
                <a:hlinkClick r:id="rId108"/>
              </a:rPr>
              <a:t>Tangozebra</a:t>
            </a:r>
            <a:r>
              <a:rPr b="1"/>
              <a:t> </a:t>
            </a:r>
            <a:r>
              <a:rPr b="1">
                <a:hlinkClick r:id="rId109"/>
              </a:rPr>
              <a:t>/</a:t>
            </a:r>
            <a:r>
              <a:rPr/>
              <a:t> </a:t>
            </a:r>
            <a:r>
              <a:rPr b="1">
                <a:hlinkClick r:id="rId110"/>
              </a:rPr>
              <a:t>DoubleClick</a:t>
            </a:r>
            <a:r>
              <a:rPr b="1"/>
              <a:t> </a:t>
            </a:r>
            <a:r>
              <a:rPr b="1">
                <a:hlinkClick r:id="rId111"/>
              </a:rPr>
              <a:t>/</a:t>
            </a:r>
            <a:r>
              <a:rPr/>
              <a:t> </a:t>
            </a:r>
            <a:r>
              <a:rPr b="1">
                <a:hlinkClick r:id="rId112"/>
              </a:rPr>
              <a:t>Google</a:t>
            </a:r>
          </a:p>
          <a:p>
            <a:pPr lvl="0" indent="0" marL="0">
              <a:buNone/>
            </a:pPr>
            <a:r>
              <a:rPr b="1"/>
              <a:t>Digital Producer</a:t>
            </a:r>
            <a:r>
              <a:rPr/>
              <a:t> (Nov 2007 – Jan 2008) Clients: Channel 4, Selftrade, Financial Times, Seiko and Microsoft.</a:t>
            </a:r>
          </a:p>
          <a:p>
            <a:pPr lvl="0" indent="0" marL="0">
              <a:buNone/>
            </a:pPr>
            <a:r>
              <a:rPr b="1">
                <a:hlinkClick r:id="rId113"/>
              </a:rPr>
              <a:t>Hi-ReS!</a:t>
            </a:r>
          </a:p>
          <a:p>
            <a:pPr lvl="0" indent="0" marL="0">
              <a:buNone/>
            </a:pPr>
            <a:r>
              <a:rPr b="1"/>
              <a:t>Digital Producer</a:t>
            </a:r>
            <a:r>
              <a:rPr/>
              <a:t> (Sept 2009 – April 2010)</a:t>
            </a:r>
          </a:p>
          <a:p>
            <a:pPr lvl="0" indent="0" marL="0">
              <a:buNone/>
            </a:pPr>
            <a:r>
              <a:rPr/>
              <a:t>Clients: Dolce &amp; Gabbana multi languages (Procter &amp; Gamble), Jägermeister, </a:t>
            </a:r>
            <a:r>
              <a:rPr>
                <a:hlinkClick r:id="rId114"/>
              </a:rPr>
              <a:t>Anna Molinari</a:t>
            </a:r>
            <a:r>
              <a:rPr/>
              <a:t> fashion brands, Webby award winner The Economist “Thinking spaces” (AMVBBDO) Starbucks</a:t>
            </a:r>
          </a:p>
          <a:p>
            <a:pPr lvl="0" indent="0" marL="0">
              <a:buNone/>
            </a:pPr>
            <a:r>
              <a:rPr/>
              <a:t>(BBDO NY)</a:t>
            </a:r>
          </a:p>
          <a:p>
            <a:pPr lvl="0" indent="0" marL="0">
              <a:buNone/>
            </a:pPr>
            <a:r>
              <a:rPr b="1">
                <a:hlinkClick r:id="rId115"/>
              </a:rPr>
              <a:t>MRM</a:t>
            </a:r>
            <a:r>
              <a:rPr>
                <a:hlinkClick r:id="rId116"/>
              </a:rPr>
              <a:t> </a:t>
            </a:r>
            <a:r>
              <a:rPr b="1">
                <a:hlinkClick r:id="rId117"/>
              </a:rPr>
              <a:t>Worldwide</a:t>
            </a:r>
          </a:p>
          <a:p>
            <a:pPr lvl="0" indent="0" marL="0">
              <a:buNone/>
            </a:pPr>
            <a:r>
              <a:rPr b="1"/>
              <a:t>Project Manager</a:t>
            </a:r>
            <a:r>
              <a:rPr/>
              <a:t> (contract) Clients: </a:t>
            </a:r>
            <a:r>
              <a:rPr>
                <a:hlinkClick r:id="rId118"/>
              </a:rPr>
              <a:t>BSkyB</a:t>
            </a:r>
          </a:p>
          <a:p>
            <a:pPr lvl="0" indent="0" marL="0">
              <a:buNone/>
            </a:pPr>
            <a:r>
              <a:rPr b="1">
                <a:hlinkClick r:id="rId119"/>
              </a:rPr>
              <a:t>Rapp</a:t>
            </a:r>
          </a:p>
          <a:p>
            <a:pPr lvl="0" indent="0" marL="0">
              <a:buNone/>
            </a:pPr>
            <a:r>
              <a:rPr b="1"/>
              <a:t>Senior Producer</a:t>
            </a:r>
            <a:r>
              <a:rPr/>
              <a:t> (contract)</a:t>
            </a:r>
          </a:p>
          <a:p>
            <a:pPr lvl="0" indent="0" marL="0">
              <a:buNone/>
            </a:pPr>
            <a:r>
              <a:rPr/>
              <a:t>Clients: Legal and General, Garnier, Crisis and Pfizer.</a:t>
            </a:r>
          </a:p>
          <a:p>
            <a:pPr lvl="0" indent="0" marL="0">
              <a:buNone/>
            </a:pPr>
            <a:r>
              <a:rPr b="1">
                <a:hlinkClick r:id="rId120"/>
              </a:rPr>
              <a:t>Saint</a:t>
            </a:r>
            <a:r>
              <a:rPr>
                <a:hlinkClick r:id="rId121"/>
              </a:rPr>
              <a:t> </a:t>
            </a:r>
            <a:r>
              <a:rPr b="1">
                <a:hlinkClick r:id="rId122"/>
              </a:rPr>
              <a:t>RKCR/Y&amp;R</a:t>
            </a:r>
          </a:p>
          <a:p>
            <a:pPr lvl="0" indent="0" marL="0">
              <a:buNone/>
            </a:pPr>
            <a:r>
              <a:rPr b="1"/>
              <a:t>Senior Producer</a:t>
            </a:r>
            <a:r>
              <a:rPr/>
              <a:t> (June - Aug 2007)</a:t>
            </a:r>
          </a:p>
          <a:p>
            <a:pPr lvl="0" indent="0" marL="0">
              <a:buNone/>
            </a:pPr>
            <a:r>
              <a:rPr/>
              <a:t>Clients: Visit London, Bacardi and the UK Home Office.</a:t>
            </a:r>
          </a:p>
          <a:p>
            <a:pPr lvl="0" indent="0" marL="0">
              <a:buNone/>
            </a:pPr>
            <a:r>
              <a:rPr b="1">
                <a:hlinkClick r:id="rId123"/>
              </a:rPr>
              <a:t>DNA</a:t>
            </a:r>
            <a:r>
              <a:rPr>
                <a:hlinkClick r:id="rId124"/>
              </a:rPr>
              <a:t> </a:t>
            </a:r>
            <a:r>
              <a:rPr b="1">
                <a:hlinkClick r:id="rId125"/>
              </a:rPr>
              <a:t>Avenue</a:t>
            </a:r>
            <a:r>
              <a:rPr>
                <a:hlinkClick r:id="rId126"/>
              </a:rPr>
              <a:t> </a:t>
            </a:r>
            <a:r>
              <a:rPr b="1">
                <a:hlinkClick r:id="rId127"/>
              </a:rPr>
              <a:t>A</a:t>
            </a:r>
            <a:r>
              <a:rPr>
                <a:hlinkClick r:id="rId128"/>
              </a:rPr>
              <a:t> </a:t>
            </a:r>
            <a:r>
              <a:rPr b="1">
                <a:hlinkClick r:id="rId129"/>
              </a:rPr>
              <a:t>|</a:t>
            </a:r>
            <a:r>
              <a:rPr>
                <a:hlinkClick r:id="rId130"/>
              </a:rPr>
              <a:t> </a:t>
            </a:r>
            <a:r>
              <a:rPr b="1">
                <a:hlinkClick r:id="rId131"/>
              </a:rPr>
              <a:t>Razorfish</a:t>
            </a:r>
          </a:p>
          <a:p>
            <a:pPr lvl="0" indent="0" marL="0">
              <a:buNone/>
            </a:pPr>
            <a:r>
              <a:rPr b="1"/>
              <a:t>Producer</a:t>
            </a:r>
            <a:r>
              <a:rPr/>
              <a:t> (Mar-May 2007)</a:t>
            </a:r>
          </a:p>
          <a:p>
            <a:pPr lvl="0" indent="0" marL="0">
              <a:buNone/>
            </a:pPr>
            <a:r>
              <a:rPr/>
              <a:t>Clients: NSPCC, Oxfam, Standard Life Bank, Yorkshire</a:t>
            </a:r>
          </a:p>
          <a:p>
            <a:pPr lvl="0" indent="0" marL="0">
              <a:buNone/>
            </a:pPr>
            <a:r>
              <a:rPr/>
              <a:t>Building Society and Weight Watchers</a:t>
            </a:r>
          </a:p>
          <a:p>
            <a:pPr lvl="0" indent="0" marL="0">
              <a:buNone/>
            </a:pPr>
            <a:r>
              <a:rPr b="1">
                <a:hlinkClick r:id="rId132"/>
              </a:rPr>
              <a:t>Culture</a:t>
            </a:r>
            <a:r>
              <a:rPr>
                <a:hlinkClick r:id="rId133"/>
              </a:rPr>
              <a:t> </a:t>
            </a:r>
            <a:r>
              <a:rPr b="1">
                <a:hlinkClick r:id="rId134"/>
              </a:rPr>
              <a:t>Lab,</a:t>
            </a:r>
            <a:r>
              <a:rPr/>
              <a:t> Dallas Texas, USA</a:t>
            </a:r>
          </a:p>
          <a:p>
            <a:pPr lvl="0" indent="0" marL="0">
              <a:buNone/>
            </a:pPr>
            <a:r>
              <a:rPr b="1"/>
              <a:t>Creative/producer</a:t>
            </a:r>
            <a:r>
              <a:rPr/>
              <a:t> (Jan – Mar 2007)</a:t>
            </a:r>
          </a:p>
          <a:p>
            <a:pPr lvl="0" indent="0" marL="0">
              <a:buNone/>
            </a:pPr>
            <a:r>
              <a:rPr/>
              <a:t>Creative team concepting, strategy, overseeing production and project management.</a:t>
            </a:r>
          </a:p>
          <a:p>
            <a:pPr lvl="0" indent="0" marL="0">
              <a:buNone/>
            </a:pPr>
            <a:r>
              <a:rPr/>
              <a:t>Clients: Nokia and Scion.</a:t>
            </a:r>
          </a:p>
          <a:p>
            <a:pPr lvl="0" indent="0" marL="0">
              <a:buNone/>
            </a:pPr>
            <a:r>
              <a:rPr b="1">
                <a:hlinkClick r:id="rId135"/>
              </a:rPr>
              <a:t>Uniworld</a:t>
            </a:r>
            <a:r>
              <a:rPr>
                <a:hlinkClick r:id="rId136"/>
              </a:rPr>
              <a:t> </a:t>
            </a:r>
            <a:r>
              <a:rPr b="1">
                <a:hlinkClick r:id="rId137"/>
              </a:rPr>
              <a:t>Group</a:t>
            </a:r>
            <a:r>
              <a:rPr/>
              <a:t>, New York City, NY, USA</a:t>
            </a:r>
          </a:p>
          <a:p>
            <a:pPr lvl="0" indent="0" marL="0">
              <a:buNone/>
            </a:pPr>
            <a:r>
              <a:rPr b="1"/>
              <a:t>Interactive Creative Producer</a:t>
            </a:r>
            <a:r>
              <a:rPr/>
              <a:t> (Oct 2005 – Jan 2007) Filmed and created online interactive video content for websites and banners, cross branding for the urban market.</a:t>
            </a:r>
          </a:p>
          <a:p>
            <a:pPr lvl="0" indent="0" marL="0">
              <a:buNone/>
            </a:pPr>
            <a:r>
              <a:rPr/>
              <a:t>Clients: Lincoln, Ford, Burger King, fundraising and online viral events for US President Barack Obama.</a:t>
            </a:r>
          </a:p>
          <a:p>
            <a:pPr lvl="0" indent="0" marL="0">
              <a:buNone/>
            </a:pPr>
            <a:r>
              <a:rPr b="1"/>
              <a:t>Platform SKILLS</a:t>
            </a:r>
          </a:p>
          <a:p>
            <a:pPr lvl="0" indent="0" marL="0">
              <a:buNone/>
            </a:pPr>
            <a:r>
              <a:rPr b="1"/>
              <a:t>Software/Tech</a:t>
            </a:r>
          </a:p>
          <a:p>
            <a:pPr lvl="0" indent="0" marL="0">
              <a:buNone/>
            </a:pPr>
            <a:r>
              <a:rPr b="1"/>
              <a:t>Project Management &amp; Collaboration</a:t>
            </a:r>
          </a:p>
          <a:p>
            <a:pPr lvl="0" indent="0" marL="0">
              <a:buNone/>
            </a:pPr>
            <a:r>
              <a:rPr/>
              <a:t>Microsoft 365 (Excel, Word, PowerPoint, Teams)</a:t>
            </a:r>
          </a:p>
          <a:p>
            <a:pPr lvl="0" indent="0" marL="0">
              <a:buNone/>
            </a:pPr>
            <a:r>
              <a:rPr/>
              <a:t>Google Workspace (Docs, Sheets, Slides, Meet)</a:t>
            </a:r>
          </a:p>
          <a:p>
            <a:pPr lvl="0" indent="0" marL="0">
              <a:buNone/>
            </a:pPr>
            <a:r>
              <a:rPr/>
              <a:t>Atlassian Jira &amp; Confluence</a:t>
            </a:r>
          </a:p>
          <a:p>
            <a:pPr lvl="0" indent="0" marL="0">
              <a:buNone/>
            </a:pPr>
            <a:r>
              <a:rPr/>
              <a:t>Monday.com, Basecamp, Smartsheet</a:t>
            </a:r>
          </a:p>
          <a:p>
            <a:pPr lvl="0" indent="0" marL="0">
              <a:buNone/>
            </a:pPr>
            <a:r>
              <a:rPr/>
              <a:t>Slack, Trello, Airtable, ClickUp</a:t>
            </a:r>
          </a:p>
          <a:p>
            <a:pPr lvl="0" indent="0" marL="0">
              <a:buNone/>
            </a:pPr>
            <a:r>
              <a:rPr/>
              <a:t>Miro (Collaboration &amp; Diagramming)</a:t>
            </a:r>
          </a:p>
          <a:p>
            <a:pPr lvl="0" indent="0" marL="0">
              <a:buNone/>
            </a:pPr>
            <a:r>
              <a:rPr b="1"/>
              <a:t>Data &amp; Analytics</a:t>
            </a:r>
          </a:p>
          <a:p>
            <a:pPr lvl="0" indent="0" marL="0">
              <a:buNone/>
            </a:pPr>
            <a:r>
              <a:rPr/>
              <a:t>Google Analytics, Adobe Analytics, Looker Studio</a:t>
            </a:r>
          </a:p>
          <a:p>
            <a:pPr lvl="0" indent="0" marL="0">
              <a:buNone/>
            </a:pPr>
            <a:r>
              <a:rPr/>
              <a:t>DOMO, Tableau, Power BI</a:t>
            </a:r>
          </a:p>
          <a:p>
            <a:pPr lvl="0" indent="0" marL="0">
              <a:buNone/>
            </a:pPr>
            <a:r>
              <a:rPr b="1"/>
              <a:t>Design &amp; Prototyping</a:t>
            </a:r>
          </a:p>
          <a:p>
            <a:pPr lvl="0" indent="0" marL="0">
              <a:buNone/>
            </a:pPr>
            <a:r>
              <a:rPr/>
              <a:t>Figma, Adobe XD, Sketch</a:t>
            </a:r>
          </a:p>
          <a:p>
            <a:pPr lvl="0" indent="0" marL="0">
              <a:buNone/>
            </a:pPr>
            <a:r>
              <a:rPr b="1"/>
              <a:t>Content Management Systems (CMS) &amp; CRMs</a:t>
            </a:r>
          </a:p>
          <a:p>
            <a:pPr lvl="0" indent="0" marL="0">
              <a:buNone/>
            </a:pPr>
            <a:r>
              <a:rPr/>
              <a:t>Sitecore, WordPress, Drupal, HubSpot CRM</a:t>
            </a:r>
          </a:p>
          <a:p>
            <a:pPr lvl="0" indent="0" marL="0">
              <a:buNone/>
            </a:pPr>
            <a:r>
              <a:rPr/>
              <a:t>Salesforce CRM, Zoho CRM</a:t>
            </a:r>
          </a:p>
          <a:p>
            <a:pPr lvl="0" indent="0" marL="0">
              <a:buNone/>
            </a:pPr>
            <a:r>
              <a:rPr b="1"/>
              <a:t>Advertising Platforms</a:t>
            </a:r>
          </a:p>
          <a:p>
            <a:pPr lvl="0" indent="0" marL="0">
              <a:buNone/>
            </a:pPr>
            <a:r>
              <a:rPr/>
              <a:t>Google Ads (Search, Display), Meta Ads Manager</a:t>
            </a:r>
          </a:p>
          <a:p>
            <a:pPr lvl="0" indent="0" marL="0">
              <a:buNone/>
            </a:pPr>
            <a:r>
              <a:rPr/>
              <a:t>(Facebook/Instagram)</a:t>
            </a:r>
          </a:p>
          <a:p>
            <a:pPr lvl="0" indent="0" marL="0">
              <a:buNone/>
            </a:pPr>
            <a:r>
              <a:rPr/>
              <a:t>Sizmek, DoubleClick/Google Ad Manager</a:t>
            </a:r>
          </a:p>
          <a:p>
            <a:pPr lvl="0" indent="0" marL="0">
              <a:buNone/>
            </a:pPr>
            <a:r>
              <a:rPr b="1"/>
              <a:t>Development &amp; Coding</a:t>
            </a:r>
          </a:p>
          <a:p>
            <a:pPr lvl="0" indent="0" marL="0">
              <a:buNone/>
            </a:pPr>
            <a:r>
              <a:rPr/>
              <a:t>HTML5, CSS3, JavaScript, React Native, MySQL, PHPMyAdmin</a:t>
            </a:r>
          </a:p>
          <a:p>
            <a:pPr lvl="0" indent="0" marL="0">
              <a:buNone/>
            </a:pPr>
            <a:r>
              <a:rPr/>
              <a:t>XML, JSON</a:t>
            </a:r>
          </a:p>
          <a:p>
            <a:pPr lvl="0" indent="0" marL="0">
              <a:buNone/>
            </a:pPr>
            <a:r>
              <a:rPr b="1"/>
              <a:t>Creative &amp; Video Editing Tools</a:t>
            </a:r>
          </a:p>
          <a:p>
            <a:pPr lvl="0" indent="0" marL="0">
              <a:buNone/>
            </a:pPr>
            <a:r>
              <a:rPr/>
              <a:t>Adobe Creative Suite: Photoshop, Illustrator, InDesign, After</a:t>
            </a:r>
          </a:p>
          <a:p>
            <a:pPr lvl="0" indent="0" marL="0">
              <a:buNone/>
            </a:pPr>
            <a:r>
              <a:rPr/>
              <a:t>Effects, Premiere Pro</a:t>
            </a:r>
          </a:p>
          <a:p>
            <a:pPr lvl="0" indent="0" marL="0">
              <a:buNone/>
            </a:pPr>
            <a:r>
              <a:rPr/>
              <a:t>Proficiency in AI tools for creative workflows like Adobe Firefly,</a:t>
            </a:r>
          </a:p>
          <a:p>
            <a:pPr lvl="0" indent="0" marL="0">
              <a:buNone/>
            </a:pPr>
            <a:r>
              <a:rPr/>
              <a:t>Canva, Runway DaVinci Resolve, Final Cut Pro, iMovie </a:t>
            </a:r>
            <a:r>
              <a:rPr b="1"/>
              <a:t>Emerging Technologies</a:t>
            </a:r>
          </a:p>
          <a:p>
            <a:pPr lvl="0" indent="0" marL="0">
              <a:buNone/>
            </a:pPr>
            <a:r>
              <a:rPr/>
              <a:t>Proficient in implementing AI technologies, Web3, AR/VR integrations</a:t>
            </a:r>
          </a:p>
          <a:p>
            <a:pPr lvl="0" indent="0" marL="0">
              <a:buNone/>
            </a:pPr>
            <a:r>
              <a:rPr/>
              <a:t>Familiarity with cloud platforms like AWS and Microsoft Azure</a:t>
            </a:r>
          </a:p>
          <a:p>
            <a:pPr lvl="0" indent="0" marL="0">
              <a:buNone/>
            </a:pPr>
            <a:r>
              <a:rPr b="1"/>
              <a:t>Version Control &amp; Development Platforms</a:t>
            </a:r>
          </a:p>
          <a:p>
            <a:pPr lvl="0" indent="0" marL="0">
              <a:buNone/>
            </a:pPr>
            <a:r>
              <a:rPr/>
              <a:t>Git, GitHub, Bitbucket</a:t>
            </a:r>
          </a:p>
          <a:p>
            <a:pPr lvl="0" indent="0" marL="0">
              <a:buNone/>
            </a:pPr>
            <a:r>
              <a:rPr b="1"/>
              <a:t>Other Technical Proficiencies</a:t>
            </a:r>
          </a:p>
          <a:p>
            <a:pPr lvl="0" indent="0" marL="0">
              <a:buNone/>
            </a:pPr>
            <a:r>
              <a:rPr/>
              <a:t>Advanced Mac/Linux/PC user; experienced in building PCs from scratch</a:t>
            </a:r>
          </a:p>
          <a:p>
            <a:pPr lvl="0" indent="0" marL="0">
              <a:buNone/>
            </a:pPr>
            <a:r>
              <a:rPr/>
              <a:t>Proficient with digital and cinema cameras, lighting, and post-production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ACTIVITIES</a:t>
            </a:r>
          </a:p>
        </p:txBody>
      </p:sp>
      <p:sp>
        <p:nvSpPr>
          <p:cNvPr id="3" name="Content Placeholder 2"/>
          <p:cNvSpPr>
            <a:spLocks noGrp="1"/>
          </p:cNvSpPr>
          <p:nvPr>
            <p:ph idx="1"/>
          </p:nvPr>
        </p:nvSpPr>
        <p:spPr/>
        <p:txBody>
          <a:bodyPr/>
          <a:lstStyle/>
          <a:p>
            <a:pPr lvl="0" indent="0" marL="0">
              <a:buNone/>
            </a:pPr>
            <a:r>
              <a:rPr/>
              <a:t>As an MC, I have performed with musicians such as Courtney Pine, Roni Size, The Beastie Boys, and at events such as The Leeds Jazz Festival. I have a serious love for music, films, art, travel, cycling, motorbiking, snorkelling, scuba diving and gaming.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EDUCATION</a:t>
            </a:r>
          </a:p>
        </p:txBody>
      </p:sp>
      <p:sp>
        <p:nvSpPr>
          <p:cNvPr id="3" name="Content Placeholder 2"/>
          <p:cNvSpPr>
            <a:spLocks noGrp="1"/>
          </p:cNvSpPr>
          <p:nvPr>
            <p:ph idx="1"/>
          </p:nvPr>
        </p:nvSpPr>
        <p:spPr/>
        <p:txBody>
          <a:bodyPr/>
          <a:lstStyle/>
          <a:p>
            <a:pPr lvl="0" indent="0" marL="0">
              <a:buNone/>
            </a:pPr>
            <a:r>
              <a:rPr/>
              <a:t>BTEC National Diploma in Media Technology</a:t>
            </a:r>
          </a:p>
          <a:p>
            <a:pPr lvl="0" indent="0" marL="0">
              <a:buNone/>
            </a:pPr>
            <a:r>
              <a:rPr/>
              <a:t>Leeds City College, Technology Campus</a:t>
            </a:r>
          </a:p>
          <a:p>
            <a:pPr lvl="0" indent="0" marL="0">
              <a:buNone/>
            </a:pPr>
            <a:r>
              <a:rPr/>
              <a:t>Electronics, Film Studies, Marketing in the Media, TV and Film Production, Music Technology, Information Technology and Sound Engineering.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OTHER QUALIFICATIONS</a:t>
            </a:r>
          </a:p>
        </p:txBody>
      </p:sp>
      <p:sp>
        <p:nvSpPr>
          <p:cNvPr id="3" name="Content Placeholder 2"/>
          <p:cNvSpPr>
            <a:spLocks noGrp="1"/>
          </p:cNvSpPr>
          <p:nvPr>
            <p:ph idx="1"/>
          </p:nvPr>
        </p:nvSpPr>
        <p:spPr/>
        <p:txBody>
          <a:bodyPr/>
          <a:lstStyle/>
          <a:p>
            <a:pPr lvl="0" indent="0" marL="0">
              <a:buNone/>
            </a:pPr>
            <a:r>
              <a:rPr>
                <a:hlinkClick r:id="rId2"/>
              </a:rPr>
              <a:t>I have completed numerous Udemy for business courses in agile project and product management</a:t>
            </a:r>
            <a:r>
              <a:rPr/>
              <a:t> Professional Scrum Product Owner training by Scrum.org, Augmented Reality Course by Google on Coursera PADI certified advanced scuba diver. </a:t>
            </a:r>
            <a:r>
              <a:rPr>
                <a:hlinkClick r:id="rId3"/>
              </a:rPr>
              <a:t>linkedin.com/in/chrisbelgrave</a:t>
            </a:r>
          </a:p>
          <a:p>
            <a:pPr lvl="0" indent="0" marL="0">
              <a:buNone/>
            </a:pPr>
            <a:r>
              <a:rPr b="1"/>
              <a:t>Christopher Belgrave</a:t>
            </a:r>
          </a:p>
          <a:p>
            <a:pPr lvl="0" indent="0" marL="0">
              <a:buNone/>
            </a:pPr>
            <a:r>
              <a:rPr b="1"/>
              <a:t>Agile Product/Project Manager CSPO</a:t>
            </a:r>
          </a:p>
          <a:p>
            <a:pPr lvl="0" indent="0" marL="0">
              <a:buNone/>
            </a:pPr>
            <a:r>
              <a:rPr b="1"/>
              <a:t>email: </a:t>
            </a:r>
            <a:r>
              <a:rPr b="1">
                <a:hlinkClick r:id="rId4"/>
              </a:rPr>
              <a:t>chrisbelgrave@gmail.com</a:t>
            </a:r>
            <a:r>
              <a:rPr b="1"/>
              <a:t> | tel: +44 79 123 600 75</a:t>
            </a:r>
          </a:p>
          <a:p>
            <a:pPr lvl="0" indent="0" marL="0">
              <a:buNone/>
            </a:pPr>
            <a:r>
              <a:rPr b="1">
                <a:hlinkClick r:id="rId5"/>
              </a:rPr>
              <a:t>ABOUT</a:t>
            </a:r>
            <a:r>
              <a:rPr>
                <a:hlinkClick r:id="rId6"/>
              </a:rPr>
              <a:t> </a:t>
            </a:r>
            <a:r>
              <a:rPr b="1">
                <a:hlinkClick r:id="rId7"/>
              </a:rPr>
              <a:t>ME</a:t>
            </a:r>
          </a:p>
          <a:p>
            <a:pPr lvl="0" indent="0" marL="1270000">
              <a:buNone/>
            </a:pPr>
            <a:r>
              <a:rPr sz="2000"/>
              <a:t>With over eighteen years of experience working as a producer, digital project manager, and Product Manager, I have developed an extensive skillset in managing digital advertising teams. Throughout my career, I have donned several hats and can confidently call myself a digital native and thought leader in this space.</a:t>
            </a:r>
          </a:p>
          <a:p>
            <a:pPr lvl="0" indent="0" marL="1270000">
              <a:buNone/>
            </a:pPr>
            <a:r>
              <a:rPr sz="2000"/>
              <a:t>I excel in managing the day-to-day production flow for digital advertising teams, from grouping resources for internal production to assembling advertising proposals and managing outsourcing. My experience also includes art directing green screened video shoots structuring timings and scoping budgets/financials for pre-production documentation.</a:t>
            </a:r>
          </a:p>
          <a:p>
            <a:pPr lvl="0" indent="0" marL="1270000">
              <a:buNone/>
            </a:pPr>
            <a:r>
              <a:rPr sz="2000"/>
              <a:t>I have had the privilege of working with some of the world's most prestigious and leading brands across different sectors and industries. My experience has allowed me to work in fast-paced environments, handling multiple projects and managing cross-functional, offshore/3rd party teams using waterfall and agile methodologies. I have also worked with CEOs and executives of companies (UK, Europe, and USA), implementing new technologies on websites AI (CMS &amp; DAM) and managing accounts.</a:t>
            </a:r>
          </a:p>
          <a:p>
            <a:pPr lvl="0" indent="0" marL="1270000">
              <a:buNone/>
            </a:pPr>
            <a:r>
              <a:rPr sz="2000"/>
              <a:t>I have a solid understanding of content management systems and can translate technical terminology for stakeholders in non-technical roles. Possessing valuable strategic product and project management skills, I excel in backlog refinement, writing user stories, and keeping within project budgetary requirements and deadlines. I have managed budgets of up to $3.4 million and have a detail-oriented and thorough approach to defining requirements and outlining specifications. Working with team members to bring high-quality products to the market is one of my core strengths.</a:t>
            </a:r>
          </a:p>
          <a:p>
            <a:pPr lvl="0" indent="0" marL="1270000">
              <a:buNone/>
            </a:pPr>
            <a:r>
              <a:rPr sz="2000"/>
              <a:t>I am a creative multi-skilled and technically minded individual in most areas of digital advertising, with a good planner and problem-solver mindset. My in-depth understanding of Artificial intelligence, cryptocurrency, Web 3, and digital products allows me to make informed decisions while managing projects.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2025-12-10T16:28:13Z</dcterms:created>
  <dcterms:modified xsi:type="dcterms:W3CDTF">2025-12-10T16:28:13Z</dcterms:modified>
</cp:coreProperties>
</file>

<file path=docProps/custom.xml><?xml version="1.0" encoding="utf-8"?>
<Properties xmlns="http://schemas.openxmlformats.org/officeDocument/2006/custom-properties" xmlns:vt="http://schemas.openxmlformats.org/officeDocument/2006/docPropsVTypes"/>
</file>